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0"/>
    <p:sldId id="257" r:id="rId11"/>
    <p:sldId id="258" r:id="rId12"/>
    <p:sldId id="259" r:id="rId13"/>
    <p:sldId id="260" r:id="rId14"/>
    <p:sldId id="261" r:id="rId15"/>
    <p:sldId id="262" r:id="rId16"/>
    <p:sldId id="263" r:id="rId17"/>
    <p:sldId id="264" r:id="rId18"/>
  </p:sldIdLst>
  <p:sldSz cx="12191695"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dImg 2"/>
          <p:cNvSpPr/>
          <p:nvPr>
            <p:ph type="sldImg" idx="2"/>
          </p:nvPr>
        </p:nvSpPr>
        <p:spPr>
          <a:xfrm>
            <a:off x="381000" y="685800"/>
            <a:ext cx="6096000" cy="3429000"/>
          </a:xfrm>
          <a:prstGeom prst="rect">
            <a:avLst/>
          </a:prstGeom>
        </p:spPr>
        <p:txBody>
          <a:bodyPr/>
          <a:lstStyle/>
          <a:p>
            <a:endParaRPr lang="en-US"/>
          </a:p>
        </p:txBody>
      </p:sp>
      <p:sp>
        <p:nvSpPr>
          <p:cNvPr id="3" name="body 3"/>
          <p:cNvSpPr/>
          <p:nvPr>
            <p:ph type="body" idx="1"/>
          </p:nvPr>
        </p:nvSpPr>
        <p:spPr>
          <a:xfrm>
            <a:off x="685800" y="4343400"/>
            <a:ext cx="5486400" cy="4114800"/>
          </a:xfrm>
          <a:prstGeom prst="rect">
            <a:avLst/>
          </a:prstGeom>
        </p:spPr>
        <p:txBody>
          <a:bodyPr/>
          <a:lstStyle/>
          <a:p>
            <a:endParaRPr lang="en-US"/>
          </a:p>
        </p:txBody>
      </p:sp>
    </p:spTree>
  </p:cSld>
  <p:clrMap bg1="dk1" tx1="lt1" bg2="dk2" tx2="lt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dy 2"/>
          <p:cNvSpPr/>
          <p:nvPr>
            <p:ph type="body" idx="1"/>
          </p:nvPr>
        </p:nvSpPr>
        <p:spPr>
          <a:xfrm>
            <a:off x="685800" y="4343400"/>
            <a:ext cx="5486400" cy="4114800"/>
          </a:xfrm>
          <a:prstGeom prst="rect">
            <a:avLst/>
          </a:prstGeom>
        </p:spPr>
        <p:txBody>
          <a:bodyPr/>
          <a:lstStyle/>
          <a:p>
            <a:r>
              <a:rPr lang="en-US" sz="1400" dirty="0"/>
              <a:t>[0:00-0:08] Robots learn by copying recorded demonstrations. And one bad demonstration quietly teaches a robot the wrong move.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dy 2"/>
          <p:cNvSpPr/>
          <p:nvPr>
            <p:ph type="body" idx="1"/>
          </p:nvPr>
        </p:nvSpPr>
        <p:spPr>
          <a:xfrm>
            <a:off x="685800" y="4343400"/>
            <a:ext cx="5486400" cy="4114800"/>
          </a:xfrm>
          <a:prstGeom prst="rect">
            <a:avLst/>
          </a:prstGeom>
        </p:spPr>
        <p:txBody>
          <a:bodyPr/>
          <a:lstStyle/>
          <a:p>
            <a:r>
              <a:rPr lang="en-US" sz="1400" dirty="0"/>
              <a:t>[0:08-0:20] A frozen sensor. A timing glitch. A recording nobody labelled. The robot learns from all of it, and nobody notices until after an expensive training run. Garbage in, garbage out. Except here, the garbage learns to drive a robot arm.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dy 2"/>
          <p:cNvSpPr/>
          <p:nvPr>
            <p:ph type="body" idx="1"/>
          </p:nvPr>
        </p:nvSpPr>
        <p:spPr>
          <a:xfrm>
            <a:off x="685800" y="4343400"/>
            <a:ext cx="5486400" cy="4114800"/>
          </a:xfrm>
          <a:prstGeom prst="rect">
            <a:avLst/>
          </a:prstGeom>
        </p:spPr>
        <p:txBody>
          <a:bodyPr/>
          <a:lstStyle/>
          <a:p>
            <a:r>
              <a:rPr lang="en-US" sz="1400" dirty="0"/>
              <a:t>[0:20-0:30] DataMon is a quality gate for robot training data. Every recording gets a score from zero to a hundred, with the reasons, and goes one of three ways: clean, held for a human, or quarantined.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dy 2"/>
          <p:cNvSpPr/>
          <p:nvPr>
            <p:ph type="body" idx="1"/>
          </p:nvPr>
        </p:nvSpPr>
        <p:spPr>
          <a:xfrm>
            <a:off x="685800" y="4343400"/>
            <a:ext cx="5486400" cy="4114800"/>
          </a:xfrm>
          <a:prstGeom prst="rect">
            <a:avLst/>
          </a:prstGeom>
        </p:spPr>
        <p:txBody>
          <a:bodyPr/>
          <a:lstStyle/>
          <a:p>
            <a:r>
              <a:rPr lang="en-US" sz="1400" dirty="0"/>
              <a:t>(Optional explainer slide. In the video this is covered during the live demo.) Four checks: integrity, labels, an unusualness rank against known-good recordings, then routing with an audit trail. The anomaly number is a rank, not a probability.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dy 2"/>
          <p:cNvSpPr/>
          <p:nvPr>
            <p:ph type="body" idx="1"/>
          </p:nvPr>
        </p:nvSpPr>
        <p:spPr>
          <a:xfrm>
            <a:off x="685800" y="4343400"/>
            <a:ext cx="5486400" cy="4114800"/>
          </a:xfrm>
          <a:prstGeom prst="rect">
            <a:avLst/>
          </a:prstGeom>
        </p:spPr>
        <p:txBody>
          <a:bodyPr/>
          <a:lstStyle/>
          <a:p>
            <a:r>
              <a:rPr lang="en-US" sz="1400" dirty="0"/>
              <a:t>[0:30-1:35] LIVE DEMO (screen recording). 1) Sign in as judge: 'Here it is live, on real public robot data from DROID and BridgeData. The loading screen is actually scoring every recording, and telling robot jokes while it works.' 2) Ingest gate, stream the reject episode: 'I'll replay a recording frame by frame, as if it's coming off a robot right now... and it's rejected. You see the verdict, and you hear it.' 3) Review queue: 'When the gate isn't sure, it asks. I can promote this one, reject it, or send it back to be recorded again. Every decision lands in an audit trail that's never overwritten.' 4) Dataset quality: 'The report card for the whole dataset: a score, a verdict and the reasons for every recording.' 5) Label / coverage: 'And here, recordings with missing or nonsense task labels. The robot was never told what it was doing.'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dy 2"/>
          <p:cNvSpPr/>
          <p:nvPr>
            <p:ph type="body" idx="1"/>
          </p:nvPr>
        </p:nvSpPr>
        <p:spPr>
          <a:xfrm>
            <a:off x="685800" y="4343400"/>
            <a:ext cx="5486400" cy="4114800"/>
          </a:xfrm>
          <a:prstGeom prst="rect">
            <a:avLst/>
          </a:prstGeom>
        </p:spPr>
        <p:txBody>
          <a:bodyPr/>
          <a:lstStyle/>
          <a:p>
            <a:r>
              <a:rPr lang="en-US" sz="1400" dirty="0"/>
              <a:t>[1:35-1:55] (Show ~5 s of tour step 1 first.) We built it so nobody's left out: a narrated tour with captions and a pointing arrow, a help assistant that only answers from our own docs, and reduced-motion support throughout.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dy 2"/>
          <p:cNvSpPr/>
          <p:nvPr>
            <p:ph type="body" idx="1"/>
          </p:nvPr>
        </p:nvSpPr>
        <p:spPr>
          <a:xfrm>
            <a:off x="685800" y="4343400"/>
            <a:ext cx="5486400" cy="4114800"/>
          </a:xfrm>
          <a:prstGeom prst="rect">
            <a:avLst/>
          </a:prstGeom>
        </p:spPr>
        <p:txBody>
          <a:bodyPr/>
          <a:lstStyle/>
          <a:p>
            <a:r>
              <a:rPr lang="en-US" sz="1400" dirty="0"/>
              <a:t>[1:55-2:30] We built all of it with Kiro, using two of its tools. Kiro Crew on a laptop set up Python, ran the app and tests, and shipped each feature as its own pull request. Kiro Web worked in a cloud sandbox that couldn't install Streamlit, so it read Streamlit's source on GitHub, let CI run the tests, and used the Playwright power to screenshot the interface before shipping. Specs defined our core features, and two steering docs kept every session honest and tested. Twenty-one pull requests, a hundred and twenty-nine passing tests.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dy 2"/>
          <p:cNvSpPr/>
          <p:nvPr>
            <p:ph type="body" idx="1"/>
          </p:nvPr>
        </p:nvSpPr>
        <p:spPr>
          <a:xfrm>
            <a:off x="685800" y="4343400"/>
            <a:ext cx="5486400" cy="4114800"/>
          </a:xfrm>
          <a:prstGeom prst="rect">
            <a:avLst/>
          </a:prstGeom>
        </p:spPr>
        <p:txBody>
          <a:bodyPr/>
          <a:lstStyle/>
          <a:p>
            <a:r>
              <a:rPr lang="en-US" sz="1400" dirty="0"/>
              <a:t>[2:30-2:45] DataMon reads the open LeRobot format, so it works on any dataset published that way, and live robots can stream straight in. Labs, data-collection teams and dataset publishers catch bad data while it's still cheap to fix.</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dy 2"/>
          <p:cNvSpPr/>
          <p:nvPr>
            <p:ph type="body" idx="1"/>
          </p:nvPr>
        </p:nvSpPr>
        <p:spPr>
          <a:xfrm>
            <a:off x="685800" y="4343400"/>
            <a:ext cx="5486400" cy="4114800"/>
          </a:xfrm>
          <a:prstGeom prst="rect">
            <a:avLst/>
          </a:prstGeom>
        </p:spPr>
        <p:txBody>
          <a:bodyPr/>
          <a:lstStyle/>
          <a:p>
            <a:r>
              <a:rPr lang="en-US" sz="1400" dirty="0"/>
              <a:t>[2:45-2:52] Good data in. Bad data out. That's DataMon.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p:cNvGrpSpPr/>
        <p:nvPr/>
      </p:nvGrpSpPr>
      <p:grpSpPr>
        <a:xfrm>
          <a:off x="0" y="0"/>
          <a:ext cx="0" cy="0"/>
          <a:chOff x="0" y="0"/>
          <a:chExt cx="0" cy="0"/>
        </a:xfrm>
      </p:grpSpPr>
      <p:pic>
        <p:nvPicPr>
          <p:cNvPr id="3" name="mascot.png"/>
          <p:cNvPicPr>
            <a:picLocks noChangeAspect="1"/>
          </p:cNvPicPr>
          <p:nvPr/>
        </p:nvPicPr>
        <p:blipFill>
          <a:blip r:embed="rId3"/>
          <a:stretch>
            <a:fillRect/>
          </a:stretch>
        </p:blipFill>
        <p:spPr>
          <a:xfrm>
            <a:off x="777240" y="1417320"/>
            <a:ext cx="2377440" cy="2377440"/>
          </a:xfrm>
          <a:prstGeom prst="rect">
            <a:avLst/>
          </a:prstGeom>
        </p:spPr>
      </p:pic>
      <p:sp>
        <p:nvSpPr>
          <p:cNvPr id="4" name="Text 4"/>
          <p:cNvSpPr txBox="1"/>
          <p:nvPr/>
        </p:nvSpPr>
        <p:spPr>
          <a:xfrm>
            <a:off x="3520440" y="1417320"/>
            <a:ext cx="8046720" cy="1188720"/>
          </a:xfrm>
          <a:prstGeom prst="rect">
            <a:avLst/>
          </a:prstGeom>
          <a:noFill/>
          <a:ln>
            <a:noFill/>
          </a:ln>
        </p:spPr>
        <p:txBody>
          <a:bodyPr wrap="square" lIns="73152" tIns="73152" rIns="73152" bIns="73152" anchor="t">
            <a:noAutofit/>
          </a:bodyPr>
          <a:lstStyle/>
          <a:p>
            <a:pPr algn="l">
              <a:buNone/>
            </a:pPr>
            <a:r>
              <a:rPr lang="en-US" sz="6600" b="1" i="0" dirty="0">
                <a:solidFill>
                  <a:srgbClr val="E6EDF3"/>
                </a:solidFill>
                <a:latin typeface="Montserrat"/>
                <a:cs typeface="Montserrat"/>
              </a:rPr>
              <a:t>Data</a:t>
            </a:r>
            <a:r>
              <a:rPr lang="en-US" sz="6600" b="1" i="0" dirty="0">
                <a:solidFill>
                  <a:srgbClr val="2DD4BF"/>
                </a:solidFill>
                <a:latin typeface="Montserrat"/>
                <a:cs typeface="Montserrat"/>
              </a:rPr>
              <a:t>Mon</a:t>
            </a:r>
            <a:endParaRPr lang="en-US" sz="6600" dirty="0"/>
          </a:p>
        </p:txBody>
      </p:sp>
      <p:sp>
        <p:nvSpPr>
          <p:cNvPr id="5" name="Text 5"/>
          <p:cNvSpPr txBox="1"/>
          <p:nvPr/>
        </p:nvSpPr>
        <p:spPr>
          <a:xfrm>
            <a:off x="3566160" y="2606040"/>
            <a:ext cx="7863840" cy="822960"/>
          </a:xfrm>
          <a:prstGeom prst="rect">
            <a:avLst/>
          </a:prstGeom>
          <a:noFill/>
          <a:ln>
            <a:noFill/>
          </a:ln>
        </p:spPr>
        <p:txBody>
          <a:bodyPr wrap="square" lIns="73152" tIns="73152" rIns="73152" bIns="73152" anchor="t">
            <a:noAutofit/>
          </a:bodyPr>
          <a:lstStyle/>
          <a:p>
            <a:pPr algn="l">
              <a:buNone/>
            </a:pPr>
            <a:r>
              <a:rPr lang="en-US" sz="2600" b="0" i="0" dirty="0">
                <a:solidFill>
                  <a:srgbClr val="E6EDF3"/>
                </a:solidFill>
                <a:latin typeface="Open Sans"/>
                <a:cs typeface="Open Sans"/>
              </a:rPr>
              <a:t>A quality gate for robot training data.</a:t>
            </a:r>
            <a:endParaRPr lang="en-US" sz="2600" dirty="0"/>
          </a:p>
        </p:txBody>
      </p:sp>
      <p:sp>
        <p:nvSpPr>
          <p:cNvPr id="6" name="Text 6"/>
          <p:cNvSpPr txBox="1"/>
          <p:nvPr/>
        </p:nvSpPr>
        <p:spPr>
          <a:xfrm>
            <a:off x="3566160" y="3200400"/>
            <a:ext cx="7863840" cy="548640"/>
          </a:xfrm>
          <a:prstGeom prst="rect">
            <a:avLst/>
          </a:prstGeom>
          <a:noFill/>
          <a:ln>
            <a:noFill/>
          </a:ln>
        </p:spPr>
        <p:txBody>
          <a:bodyPr wrap="square" lIns="73152" tIns="73152" rIns="73152" bIns="73152" anchor="t">
            <a:noAutofit/>
          </a:bodyPr>
          <a:lstStyle/>
          <a:p>
            <a:pPr algn="l">
              <a:buNone/>
            </a:pPr>
            <a:r>
              <a:rPr lang="en-US" sz="2000" b="0" i="1" dirty="0">
                <a:solidFill>
                  <a:srgbClr val="9FB3C8"/>
                </a:solidFill>
                <a:latin typeface="Open Sans"/>
                <a:cs typeface="Open Sans"/>
              </a:rPr>
              <a:t>Bad demonstrations stop here.</a:t>
            </a:r>
            <a:endParaRPr lang="en-US" sz="2000" dirty="0"/>
          </a:p>
        </p:txBody>
      </p:sp>
      <p:sp>
        <p:nvSpPr>
          <p:cNvPr id="7" name="Text 7"/>
          <p:cNvSpPr txBox="1"/>
          <p:nvPr/>
        </p:nvSpPr>
        <p:spPr>
          <a:xfrm>
            <a:off x="3566160" y="3977640"/>
            <a:ext cx="2788920" cy="384048"/>
          </a:xfrm>
          <a:prstGeom prst="roundRect">
            <a:avLst>
              <a:gd name="adj" fmla="val 8000"/>
            </a:avLst>
          </a:prstGeom>
          <a:solidFill>
            <a:srgbClr val="10262A"/>
          </a:solidFill>
          <a:ln w="15875">
            <a:solidFill>
              <a:srgbClr val="0D9488"/>
            </a:solidFill>
          </a:ln>
        </p:spPr>
        <p:txBody>
          <a:bodyPr wrap="square" lIns="36576" tIns="36576" rIns="36576" bIns="36576" anchor="ctr">
            <a:noAutofit/>
          </a:bodyPr>
          <a:lstStyle/>
          <a:p>
            <a:pPr algn="ctr">
              <a:buNone/>
            </a:pPr>
            <a:r>
              <a:rPr lang="en-US" sz="1100" b="1" i="0" dirty="0">
                <a:solidFill>
                  <a:srgbClr val="2DD4BF"/>
                </a:solidFill>
                <a:latin typeface="Montserrat"/>
                <a:cs typeface="Montserrat"/>
              </a:rPr>
              <a:t>ROBOTICS &amp; HARDWARE TRACK</a:t>
            </a:r>
            <a:endParaRPr lang="en-US" sz="1100" dirty="0"/>
          </a:p>
        </p:txBody>
      </p:sp>
      <p:sp>
        <p:nvSpPr>
          <p:cNvPr id="8" name="Text 8"/>
          <p:cNvSpPr txBox="1"/>
          <p:nvPr/>
        </p:nvSpPr>
        <p:spPr>
          <a:xfrm>
            <a:off x="6492240" y="3977640"/>
            <a:ext cx="2057400" cy="384048"/>
          </a:xfrm>
          <a:prstGeom prst="roundRect">
            <a:avLst>
              <a:gd name="adj" fmla="val 8000"/>
            </a:avLst>
          </a:prstGeom>
          <a:solidFill>
            <a:srgbClr val="10262A"/>
          </a:solidFill>
          <a:ln w="15875">
            <a:solidFill>
              <a:srgbClr val="0D9488"/>
            </a:solidFill>
          </a:ln>
        </p:spPr>
        <p:txBody>
          <a:bodyPr wrap="square" lIns="36576" tIns="36576" rIns="36576" bIns="36576" anchor="ctr">
            <a:noAutofit/>
          </a:bodyPr>
          <a:lstStyle/>
          <a:p>
            <a:pPr algn="ctr">
              <a:buNone/>
            </a:pPr>
            <a:r>
              <a:rPr lang="en-US" sz="1100" b="1" i="0" dirty="0">
                <a:solidFill>
                  <a:srgbClr val="2DD4BF"/>
                </a:solidFill>
                <a:latin typeface="Montserrat"/>
                <a:cs typeface="Montserrat"/>
              </a:rPr>
              <a:t>HACKACHUSETTS</a:t>
            </a:r>
            <a:endParaRPr lang="en-US" sz="1100" dirty="0"/>
          </a:p>
        </p:txBody>
      </p:sp>
      <p:sp>
        <p:nvSpPr>
          <p:cNvPr id="9" name="Text 9"/>
          <p:cNvSpPr txBox="1"/>
          <p:nvPr/>
        </p:nvSpPr>
        <p:spPr>
          <a:xfrm>
            <a:off x="8686800" y="3977640"/>
            <a:ext cx="2057400" cy="384048"/>
          </a:xfrm>
          <a:prstGeom prst="roundRect">
            <a:avLst>
              <a:gd name="adj" fmla="val 8000"/>
            </a:avLst>
          </a:prstGeom>
          <a:solidFill>
            <a:srgbClr val="10262A"/>
          </a:solidFill>
          <a:ln w="15875">
            <a:solidFill>
              <a:srgbClr val="0D9488"/>
            </a:solidFill>
          </a:ln>
        </p:spPr>
        <p:txBody>
          <a:bodyPr wrap="square" lIns="36576" tIns="36576" rIns="36576" bIns="36576" anchor="ctr">
            <a:noAutofit/>
          </a:bodyPr>
          <a:lstStyle/>
          <a:p>
            <a:pPr algn="ctr">
              <a:buNone/>
            </a:pPr>
            <a:r>
              <a:rPr lang="en-US" sz="1100" b="1" i="0" dirty="0">
                <a:solidFill>
                  <a:srgbClr val="2DD4BF"/>
                </a:solidFill>
                <a:latin typeface="Montserrat"/>
                <a:cs typeface="Montserrat"/>
              </a:rPr>
              <a:t>BUILT WITH KIRO</a:t>
            </a:r>
            <a:endParaRPr lang="en-US" sz="1100" dirty="0"/>
          </a:p>
        </p:txBody>
      </p:sp>
      <p:sp>
        <p:nvSpPr>
          <p:cNvPr id="10" name="Text 10"/>
          <p:cNvSpPr txBox="1"/>
          <p:nvPr/>
        </p:nvSpPr>
        <p:spPr>
          <a:xfrm>
            <a:off x="777240" y="5257800"/>
            <a:ext cx="10607040" cy="457200"/>
          </a:xfrm>
          <a:prstGeom prst="rect">
            <a:avLst/>
          </a:prstGeom>
          <a:noFill/>
          <a:ln>
            <a:noFill/>
          </a:ln>
        </p:spPr>
        <p:txBody>
          <a:bodyPr wrap="square" lIns="73152" tIns="73152" rIns="73152" bIns="73152" anchor="t">
            <a:noAutofit/>
          </a:bodyPr>
          <a:lstStyle/>
          <a:p>
            <a:pPr algn="l">
              <a:buNone/>
            </a:pPr>
            <a:r>
              <a:rPr lang="en-US" sz="1500" b="1" i="0" dirty="0">
                <a:solidFill>
                  <a:srgbClr val="9FB3C8"/>
                </a:solidFill>
                <a:latin typeface="Open Sans"/>
                <a:cs typeface="Open Sans"/>
              </a:rPr>
              <a:t>Team:  </a:t>
            </a:r>
            <a:r>
              <a:rPr lang="en-US" sz="1500" b="0" i="0" dirty="0">
                <a:solidFill>
                  <a:srgbClr val="E6EDF3"/>
                </a:solidFill>
                <a:latin typeface="Open Sans"/>
                <a:cs typeface="Open Sans"/>
              </a:rPr>
              <a:t>Ahmed Salah  ·  Jesse Silva</a:t>
            </a:r>
            <a:endParaRPr lang="en-US" sz="1500" dirty="0"/>
          </a:p>
        </p:txBody>
      </p:sp>
      <p:sp>
        <p:nvSpPr>
          <p:cNvPr id="11" name="Text 11"/>
          <p:cNvSpPr txBox="1"/>
          <p:nvPr/>
        </p:nvSpPr>
        <p:spPr>
          <a:xfrm>
            <a:off x="777240" y="5669280"/>
            <a:ext cx="10607040" cy="457200"/>
          </a:xfrm>
          <a:prstGeom prst="rect">
            <a:avLst/>
          </a:prstGeom>
          <a:noFill/>
          <a:ln>
            <a:noFill/>
          </a:ln>
        </p:spPr>
        <p:txBody>
          <a:bodyPr wrap="square" lIns="73152" tIns="73152" rIns="73152" bIns="73152" anchor="t">
            <a:noAutofit/>
          </a:bodyPr>
          <a:lstStyle/>
          <a:p>
            <a:pPr algn="l">
              <a:buNone/>
            </a:pPr>
            <a:r>
              <a:rPr lang="en-US" sz="1500" b="0" i="0" dirty="0">
                <a:solidFill>
                  <a:srgbClr val="2DD4BF"/>
                </a:solidFill>
                <a:latin typeface="Open Sans"/>
                <a:cs typeface="Open Sans"/>
              </a:rPr>
              <a:t>hackachusetts-datamon.streamlit.app</a:t>
            </a:r>
            <a:endParaRPr lang="en-US" sz="1500" dirty="0"/>
          </a:p>
        </p:txBody>
      </p:sp>
      <p:pic>
        <p:nvPicPr>
          <p:cNvPr id="12" name="car.png"/>
          <p:cNvPicPr>
            <a:picLocks noChangeAspect="1"/>
          </p:cNvPicPr>
          <p:nvPr/>
        </p:nvPicPr>
        <p:blipFill>
          <a:blip r:embed="rId4"/>
          <a:stretch>
            <a:fillRect/>
          </a:stretch>
        </p:blipFill>
        <p:spPr>
          <a:xfrm>
            <a:off x="10424160" y="5715000"/>
            <a:ext cx="822960" cy="7543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p:cNvGrpSpPr/>
        <p:nvPr/>
      </p:nvGrpSpPr>
      <p:grpSpPr>
        <a:xfrm>
          <a:off x="0" y="0"/>
          <a:ext cx="0" cy="0"/>
          <a:chOff x="0" y="0"/>
          <a:chExt cx="0" cy="0"/>
        </a:xfrm>
      </p:grpSpPr>
      <p:sp>
        <p:nvSpPr>
          <p:cNvPr id="3" name="Text 3"/>
          <p:cNvSpPr txBox="1"/>
          <p:nvPr/>
        </p:nvSpPr>
        <p:spPr>
          <a:xfrm>
            <a:off x="685800" y="502920"/>
            <a:ext cx="10789920" cy="365760"/>
          </a:xfrm>
          <a:prstGeom prst="rect">
            <a:avLst/>
          </a:prstGeom>
          <a:noFill/>
          <a:ln>
            <a:noFill/>
          </a:ln>
        </p:spPr>
        <p:txBody>
          <a:bodyPr wrap="square" lIns="73152" tIns="73152" rIns="73152" bIns="73152" anchor="t">
            <a:noAutofit/>
          </a:bodyPr>
          <a:lstStyle/>
          <a:p>
            <a:pPr algn="l">
              <a:buNone/>
            </a:pPr>
            <a:r>
              <a:rPr lang="en-US" sz="1300" b="1" i="0" dirty="0">
                <a:solidFill>
                  <a:srgbClr val="2DD4BF"/>
                </a:solidFill>
                <a:latin typeface="Montserrat"/>
                <a:cs typeface="Montserrat"/>
              </a:rPr>
              <a:t>THE PROBLEM</a:t>
            </a:r>
            <a:endParaRPr lang="en-US" sz="1300" dirty="0"/>
          </a:p>
        </p:txBody>
      </p:sp>
      <p:sp>
        <p:nvSpPr>
          <p:cNvPr id="4" name="Text 4"/>
          <p:cNvSpPr txBox="1"/>
          <p:nvPr/>
        </p:nvSpPr>
        <p:spPr>
          <a:xfrm>
            <a:off x="685800" y="850392"/>
            <a:ext cx="10789920" cy="914400"/>
          </a:xfrm>
          <a:prstGeom prst="rect">
            <a:avLst/>
          </a:prstGeom>
          <a:noFill/>
          <a:ln>
            <a:noFill/>
          </a:ln>
        </p:spPr>
        <p:txBody>
          <a:bodyPr wrap="square" lIns="73152" tIns="73152" rIns="73152" bIns="73152" anchor="t">
            <a:noAutofit/>
          </a:bodyPr>
          <a:lstStyle/>
          <a:p>
            <a:pPr algn="l">
              <a:buNone/>
            </a:pPr>
            <a:r>
              <a:rPr lang="en-US" sz="3400" b="1" i="0" dirty="0">
                <a:solidFill>
                  <a:srgbClr val="E6EDF3"/>
                </a:solidFill>
                <a:latin typeface="Montserrat"/>
                <a:cs typeface="Montserrat"/>
              </a:rPr>
              <a:t>Bad robot data fails silently</a:t>
            </a:r>
            <a:endParaRPr lang="en-US" sz="3400" dirty="0"/>
          </a:p>
        </p:txBody>
      </p:sp>
      <p:sp>
        <p:nvSpPr>
          <p:cNvPr id="5" name="Shape 5"/>
          <p:cNvSpPr/>
          <p:nvPr/>
        </p:nvSpPr>
        <p:spPr>
          <a:xfrm>
            <a:off x="685800" y="2011680"/>
            <a:ext cx="3429000" cy="2377440"/>
          </a:xfrm>
          <a:prstGeom prst="roundRect">
            <a:avLst>
              <a:gd name="adj" fmla="val 10000"/>
            </a:avLst>
          </a:prstGeom>
          <a:solidFill>
            <a:srgbClr val="151C26"/>
          </a:solidFill>
          <a:ln w="15875">
            <a:solidFill>
              <a:srgbClr val="23414A"/>
            </a:solidFill>
          </a:ln>
        </p:spPr>
        <p:txBody>
          <a:bodyPr/>
          <a:lstStyle/>
          <a:p>
            <a:endParaRPr lang="en-US"/>
          </a:p>
        </p:txBody>
      </p:sp>
      <p:sp>
        <p:nvSpPr>
          <p:cNvPr id="6" name="Shape 6"/>
          <p:cNvSpPr/>
          <p:nvPr/>
        </p:nvSpPr>
        <p:spPr>
          <a:xfrm>
            <a:off x="685800" y="2176272"/>
            <a:ext cx="64008" cy="2048256"/>
          </a:xfrm>
          <a:prstGeom prst="rect">
            <a:avLst/>
          </a:prstGeom>
          <a:solidFill>
            <a:srgbClr val="D64545"/>
          </a:solidFill>
          <a:ln>
            <a:noFill/>
          </a:ln>
        </p:spPr>
        <p:txBody>
          <a:bodyPr/>
          <a:lstStyle/>
          <a:p>
            <a:endParaRPr lang="en-US"/>
          </a:p>
        </p:txBody>
      </p:sp>
      <p:sp>
        <p:nvSpPr>
          <p:cNvPr id="7" name="Text 7"/>
          <p:cNvSpPr txBox="1"/>
          <p:nvPr/>
        </p:nvSpPr>
        <p:spPr>
          <a:xfrm>
            <a:off x="914400" y="2148840"/>
            <a:ext cx="3063240" cy="457200"/>
          </a:xfrm>
          <a:prstGeom prst="rect">
            <a:avLst/>
          </a:prstGeom>
          <a:noFill/>
          <a:ln>
            <a:noFill/>
          </a:ln>
        </p:spPr>
        <p:txBody>
          <a:bodyPr wrap="square" lIns="73152" tIns="73152" rIns="73152" bIns="73152" anchor="t">
            <a:noAutofit/>
          </a:bodyPr>
          <a:lstStyle/>
          <a:p>
            <a:pPr algn="l">
              <a:buNone/>
            </a:pPr>
            <a:r>
              <a:rPr lang="en-US" sz="1800" b="1" i="0" dirty="0">
                <a:solidFill>
                  <a:srgbClr val="D64545"/>
                </a:solidFill>
                <a:latin typeface="Montserrat"/>
                <a:cs typeface="Montserrat"/>
              </a:rPr>
              <a:t>Sensor &amp; timing faults</a:t>
            </a:r>
            <a:endParaRPr lang="en-US" sz="1800" dirty="0"/>
          </a:p>
        </p:txBody>
      </p:sp>
      <p:sp>
        <p:nvSpPr>
          <p:cNvPr id="8" name="Text 8"/>
          <p:cNvSpPr txBox="1"/>
          <p:nvPr/>
        </p:nvSpPr>
        <p:spPr>
          <a:xfrm>
            <a:off x="914400" y="2578608"/>
            <a:ext cx="3063240" cy="1691640"/>
          </a:xfrm>
          <a:prstGeom prst="rect">
            <a:avLst/>
          </a:prstGeom>
          <a:noFill/>
          <a:ln>
            <a:noFill/>
          </a:ln>
        </p:spPr>
        <p:txBody>
          <a:bodyPr wrap="square" lIns="73152" tIns="73152" rIns="73152" bIns="73152" anchor="t">
            <a:noAutofit/>
          </a:bodyPr>
          <a:lstStyle/>
          <a:p>
            <a:pPr algn="l">
              <a:buNone/>
            </a:pPr>
            <a:r>
              <a:rPr lang="en-US" sz="1350" b="0" i="0" dirty="0">
                <a:solidFill>
                  <a:srgbClr val="E6EDF3"/>
                </a:solidFill>
                <a:latin typeface="Open Sans"/>
                <a:cs typeface="Open Sans"/>
              </a:rPr>
              <a:t>Frozen readings, dropped frames, glitchy timestamps and impossible values slip into datasets.</a:t>
            </a:r>
            <a:endParaRPr lang="en-US" sz="1350" dirty="0"/>
          </a:p>
        </p:txBody>
      </p:sp>
      <p:sp>
        <p:nvSpPr>
          <p:cNvPr id="9" name="Shape 9"/>
          <p:cNvSpPr/>
          <p:nvPr/>
        </p:nvSpPr>
        <p:spPr>
          <a:xfrm>
            <a:off x="4343400" y="2011680"/>
            <a:ext cx="3429000" cy="2377440"/>
          </a:xfrm>
          <a:prstGeom prst="roundRect">
            <a:avLst>
              <a:gd name="adj" fmla="val 10000"/>
            </a:avLst>
          </a:prstGeom>
          <a:solidFill>
            <a:srgbClr val="151C26"/>
          </a:solidFill>
          <a:ln w="15875">
            <a:solidFill>
              <a:srgbClr val="23414A"/>
            </a:solidFill>
          </a:ln>
        </p:spPr>
        <p:txBody>
          <a:bodyPr/>
          <a:lstStyle/>
          <a:p>
            <a:endParaRPr lang="en-US"/>
          </a:p>
        </p:txBody>
      </p:sp>
      <p:sp>
        <p:nvSpPr>
          <p:cNvPr id="10" name="Shape 10"/>
          <p:cNvSpPr/>
          <p:nvPr/>
        </p:nvSpPr>
        <p:spPr>
          <a:xfrm>
            <a:off x="4343400" y="2176272"/>
            <a:ext cx="64008" cy="2048256"/>
          </a:xfrm>
          <a:prstGeom prst="rect">
            <a:avLst/>
          </a:prstGeom>
          <a:solidFill>
            <a:srgbClr val="D9A400"/>
          </a:solidFill>
          <a:ln>
            <a:noFill/>
          </a:ln>
        </p:spPr>
        <p:txBody>
          <a:bodyPr/>
          <a:lstStyle/>
          <a:p>
            <a:endParaRPr lang="en-US"/>
          </a:p>
        </p:txBody>
      </p:sp>
      <p:sp>
        <p:nvSpPr>
          <p:cNvPr id="11" name="Text 11"/>
          <p:cNvSpPr txBox="1"/>
          <p:nvPr/>
        </p:nvSpPr>
        <p:spPr>
          <a:xfrm>
            <a:off x="4572000" y="2148840"/>
            <a:ext cx="3063240" cy="457200"/>
          </a:xfrm>
          <a:prstGeom prst="rect">
            <a:avLst/>
          </a:prstGeom>
          <a:noFill/>
          <a:ln>
            <a:noFill/>
          </a:ln>
        </p:spPr>
        <p:txBody>
          <a:bodyPr wrap="square" lIns="73152" tIns="73152" rIns="73152" bIns="73152" anchor="t">
            <a:noAutofit/>
          </a:bodyPr>
          <a:lstStyle/>
          <a:p>
            <a:pPr algn="l">
              <a:buNone/>
            </a:pPr>
            <a:r>
              <a:rPr lang="en-US" sz="1800" b="1" i="0" dirty="0">
                <a:solidFill>
                  <a:srgbClr val="D9A400"/>
                </a:solidFill>
                <a:latin typeface="Montserrat"/>
                <a:cs typeface="Montserrat"/>
              </a:rPr>
              <a:t>Missing or nonsense labels</a:t>
            </a:r>
            <a:endParaRPr lang="en-US" sz="1800" dirty="0"/>
          </a:p>
        </p:txBody>
      </p:sp>
      <p:sp>
        <p:nvSpPr>
          <p:cNvPr id="12" name="Text 12"/>
          <p:cNvSpPr txBox="1"/>
          <p:nvPr/>
        </p:nvSpPr>
        <p:spPr>
          <a:xfrm>
            <a:off x="4572000" y="2578608"/>
            <a:ext cx="3063240" cy="1691640"/>
          </a:xfrm>
          <a:prstGeom prst="rect">
            <a:avLst/>
          </a:prstGeom>
          <a:noFill/>
          <a:ln>
            <a:noFill/>
          </a:ln>
        </p:spPr>
        <p:txBody>
          <a:bodyPr wrap="square" lIns="73152" tIns="73152" rIns="73152" bIns="73152" anchor="t">
            <a:noAutofit/>
          </a:bodyPr>
          <a:lstStyle/>
          <a:p>
            <a:pPr algn="l">
              <a:buNone/>
            </a:pPr>
            <a:r>
              <a:rPr lang="en-US" sz="1350" b="0" i="0" dirty="0">
                <a:solidFill>
                  <a:srgbClr val="E6EDF3"/>
                </a:solidFill>
                <a:latin typeface="Open Sans"/>
                <a:cs typeface="Open Sans"/>
              </a:rPr>
              <a:t>A demonstration the robot was never told the point of teaches it nothing useful.</a:t>
            </a:r>
            <a:endParaRPr lang="en-US" sz="1350" dirty="0"/>
          </a:p>
        </p:txBody>
      </p:sp>
      <p:sp>
        <p:nvSpPr>
          <p:cNvPr id="13" name="Shape 13"/>
          <p:cNvSpPr/>
          <p:nvPr/>
        </p:nvSpPr>
        <p:spPr>
          <a:xfrm>
            <a:off x="8001000" y="2011680"/>
            <a:ext cx="3429000" cy="2377440"/>
          </a:xfrm>
          <a:prstGeom prst="roundRect">
            <a:avLst>
              <a:gd name="adj" fmla="val 10000"/>
            </a:avLst>
          </a:prstGeom>
          <a:solidFill>
            <a:srgbClr val="151C26"/>
          </a:solidFill>
          <a:ln w="15875">
            <a:solidFill>
              <a:srgbClr val="23414A"/>
            </a:solidFill>
          </a:ln>
        </p:spPr>
        <p:txBody>
          <a:bodyPr/>
          <a:lstStyle/>
          <a:p>
            <a:endParaRPr lang="en-US"/>
          </a:p>
        </p:txBody>
      </p:sp>
      <p:sp>
        <p:nvSpPr>
          <p:cNvPr id="14" name="Shape 14"/>
          <p:cNvSpPr/>
          <p:nvPr/>
        </p:nvSpPr>
        <p:spPr>
          <a:xfrm>
            <a:off x="8001000" y="2176272"/>
            <a:ext cx="64008" cy="2048256"/>
          </a:xfrm>
          <a:prstGeom prst="rect">
            <a:avLst/>
          </a:prstGeom>
          <a:solidFill>
            <a:srgbClr val="2DD4BF"/>
          </a:solidFill>
          <a:ln>
            <a:noFill/>
          </a:ln>
        </p:spPr>
        <p:txBody>
          <a:bodyPr/>
          <a:lstStyle/>
          <a:p>
            <a:endParaRPr lang="en-US"/>
          </a:p>
        </p:txBody>
      </p:sp>
      <p:sp>
        <p:nvSpPr>
          <p:cNvPr id="15" name="Text 15"/>
          <p:cNvSpPr txBox="1"/>
          <p:nvPr/>
        </p:nvSpPr>
        <p:spPr>
          <a:xfrm>
            <a:off x="8229600" y="2148840"/>
            <a:ext cx="3063240" cy="457200"/>
          </a:xfrm>
          <a:prstGeom prst="rect">
            <a:avLst/>
          </a:prstGeom>
          <a:noFill/>
          <a:ln>
            <a:noFill/>
          </a:ln>
        </p:spPr>
        <p:txBody>
          <a:bodyPr wrap="square" lIns="73152" tIns="73152" rIns="73152" bIns="73152" anchor="t">
            <a:noAutofit/>
          </a:bodyPr>
          <a:lstStyle/>
          <a:p>
            <a:pPr algn="l">
              <a:buNone/>
            </a:pPr>
            <a:r>
              <a:rPr lang="en-US" sz="1800" b="1" i="0" dirty="0">
                <a:solidFill>
                  <a:srgbClr val="2DD4BF"/>
                </a:solidFill>
                <a:latin typeface="Montserrat"/>
                <a:cs typeface="Montserrat"/>
              </a:rPr>
              <a:t>Found too late</a:t>
            </a:r>
            <a:endParaRPr lang="en-US" sz="1800" dirty="0"/>
          </a:p>
        </p:txBody>
      </p:sp>
      <p:sp>
        <p:nvSpPr>
          <p:cNvPr id="16" name="Text 16"/>
          <p:cNvSpPr txBox="1"/>
          <p:nvPr/>
        </p:nvSpPr>
        <p:spPr>
          <a:xfrm>
            <a:off x="8229600" y="2578608"/>
            <a:ext cx="3063240" cy="1691640"/>
          </a:xfrm>
          <a:prstGeom prst="rect">
            <a:avLst/>
          </a:prstGeom>
          <a:noFill/>
          <a:ln>
            <a:noFill/>
          </a:ln>
        </p:spPr>
        <p:txBody>
          <a:bodyPr wrap="square" lIns="73152" tIns="73152" rIns="73152" bIns="73152" anchor="t">
            <a:noAutofit/>
          </a:bodyPr>
          <a:lstStyle/>
          <a:p>
            <a:pPr algn="l">
              <a:buNone/>
            </a:pPr>
            <a:r>
              <a:rPr lang="en-US" sz="1350" b="0" i="0" dirty="0">
                <a:solidFill>
                  <a:srgbClr val="E6EDF3"/>
                </a:solidFill>
                <a:latin typeface="Open Sans"/>
                <a:cs typeface="Open Sans"/>
              </a:rPr>
              <a:t>Problems usually surface after an expensive training run, when the data is hardest to fix or recollect.</a:t>
            </a:r>
            <a:endParaRPr lang="en-US" sz="1350" dirty="0"/>
          </a:p>
        </p:txBody>
      </p:sp>
      <p:sp>
        <p:nvSpPr>
          <p:cNvPr id="17" name="Text 17"/>
          <p:cNvSpPr txBox="1"/>
          <p:nvPr/>
        </p:nvSpPr>
        <p:spPr>
          <a:xfrm>
            <a:off x="685800" y="4800600"/>
            <a:ext cx="10789920" cy="1097280"/>
          </a:xfrm>
          <a:prstGeom prst="rect">
            <a:avLst/>
          </a:prstGeom>
          <a:noFill/>
          <a:ln>
            <a:noFill/>
          </a:ln>
        </p:spPr>
        <p:txBody>
          <a:bodyPr wrap="square" lIns="73152" tIns="73152" rIns="73152" bIns="73152" anchor="t">
            <a:noAutofit/>
          </a:bodyPr>
          <a:lstStyle/>
          <a:p>
            <a:pPr algn="l">
              <a:buNone/>
            </a:pPr>
            <a:r>
              <a:rPr lang="en-US" sz="2200" b="1" i="0" dirty="0">
                <a:solidFill>
                  <a:srgbClr val="E6EDF3"/>
                </a:solidFill>
                <a:latin typeface="Montserrat"/>
                <a:cs typeface="Montserrat"/>
              </a:rPr>
              <a:t>Garbage in, garbage out.  </a:t>
            </a:r>
            <a:r>
              <a:rPr lang="en-US" sz="2000" b="0" i="1" dirty="0">
                <a:solidFill>
                  <a:srgbClr val="9FB3C8"/>
                </a:solidFill>
                <a:latin typeface="Open Sans"/>
                <a:cs typeface="Open Sans"/>
              </a:rPr>
              <a:t>Except here, the garbage learns to drive a robot arm.</a:t>
            </a:r>
            <a:endParaRPr lang="en-US" sz="2000" dirty="0"/>
          </a:p>
        </p:txBody>
      </p:sp>
      <p:sp>
        <p:nvSpPr>
          <p:cNvPr id="18" name="Shape 18"/>
          <p:cNvSpPr/>
          <p:nvPr/>
        </p:nvSpPr>
        <p:spPr>
          <a:xfrm>
            <a:off x="685800" y="6419088"/>
            <a:ext cx="502920" cy="45720"/>
          </a:xfrm>
          <a:prstGeom prst="rect">
            <a:avLst/>
          </a:prstGeom>
          <a:solidFill>
            <a:srgbClr val="2DD4BF"/>
          </a:solidFill>
          <a:ln>
            <a:noFill/>
          </a:ln>
        </p:spPr>
        <p:txBody>
          <a:bodyPr/>
          <a:lstStyle/>
          <a:p>
            <a:endParaRPr lang="en-US"/>
          </a:p>
        </p:txBody>
      </p:sp>
      <p:sp>
        <p:nvSpPr>
          <p:cNvPr id="19" name="Text 19"/>
          <p:cNvSpPr txBox="1"/>
          <p:nvPr/>
        </p:nvSpPr>
        <p:spPr>
          <a:xfrm>
            <a:off x="1280160" y="6272784"/>
            <a:ext cx="5486400" cy="320040"/>
          </a:xfrm>
          <a:prstGeom prst="rect">
            <a:avLst/>
          </a:prstGeom>
          <a:noFill/>
          <a:ln>
            <a:noFill/>
          </a:ln>
        </p:spPr>
        <p:txBody>
          <a:bodyPr wrap="square" lIns="73152" tIns="73152" rIns="73152" bIns="73152" anchor="t">
            <a:noAutofit/>
          </a:bodyPr>
          <a:lstStyle/>
          <a:p>
            <a:pPr algn="l">
              <a:buNone/>
            </a:pPr>
            <a:r>
              <a:rPr lang="en-US" sz="1000" b="0" i="0" dirty="0">
                <a:solidFill>
                  <a:srgbClr val="9FB3C8"/>
                </a:solidFill>
                <a:latin typeface="Open Sans"/>
                <a:cs typeface="Open Sans"/>
              </a:rPr>
              <a:t>DataMon  ·  Hackachusetts  ·  Robotics &amp; Hardware</a:t>
            </a:r>
            <a:endParaRPr lang="en-US" sz="1000" dirty="0"/>
          </a:p>
        </p:txBody>
      </p:sp>
      <p:sp>
        <p:nvSpPr>
          <p:cNvPr id="20" name="Text 20"/>
          <p:cNvSpPr txBox="1"/>
          <p:nvPr/>
        </p:nvSpPr>
        <p:spPr>
          <a:xfrm>
            <a:off x="10607040" y="6272784"/>
            <a:ext cx="914400" cy="320040"/>
          </a:xfrm>
          <a:prstGeom prst="rect">
            <a:avLst/>
          </a:prstGeom>
          <a:noFill/>
          <a:ln>
            <a:noFill/>
          </a:ln>
        </p:spPr>
        <p:txBody>
          <a:bodyPr wrap="square" lIns="73152" tIns="73152" rIns="73152" bIns="73152" anchor="t">
            <a:noAutofit/>
          </a:bodyPr>
          <a:lstStyle/>
          <a:p>
            <a:pPr algn="r">
              <a:buNone/>
            </a:pPr>
            <a:r>
              <a:rPr lang="en-US" sz="1000" b="0" i="0" dirty="0">
                <a:solidFill>
                  <a:srgbClr val="9FB3C8"/>
                </a:solidFill>
                <a:latin typeface="Open Sans"/>
                <a:cs typeface="Open Sans"/>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p:cNvGrpSpPr/>
        <p:nvPr/>
      </p:nvGrpSpPr>
      <p:grpSpPr>
        <a:xfrm>
          <a:off x="0" y="0"/>
          <a:ext cx="0" cy="0"/>
          <a:chOff x="0" y="0"/>
          <a:chExt cx="0" cy="0"/>
        </a:xfrm>
      </p:grpSpPr>
      <p:sp>
        <p:nvSpPr>
          <p:cNvPr id="3" name="Text 3"/>
          <p:cNvSpPr txBox="1"/>
          <p:nvPr/>
        </p:nvSpPr>
        <p:spPr>
          <a:xfrm>
            <a:off x="685800" y="502920"/>
            <a:ext cx="10789920" cy="365760"/>
          </a:xfrm>
          <a:prstGeom prst="rect">
            <a:avLst/>
          </a:prstGeom>
          <a:noFill/>
          <a:ln>
            <a:noFill/>
          </a:ln>
        </p:spPr>
        <p:txBody>
          <a:bodyPr wrap="square" lIns="73152" tIns="73152" rIns="73152" bIns="73152" anchor="t">
            <a:noAutofit/>
          </a:bodyPr>
          <a:lstStyle/>
          <a:p>
            <a:pPr algn="l">
              <a:buNone/>
            </a:pPr>
            <a:r>
              <a:rPr lang="en-US" sz="1300" b="1" i="0" dirty="0">
                <a:solidFill>
                  <a:srgbClr val="2DD4BF"/>
                </a:solidFill>
                <a:latin typeface="Montserrat"/>
                <a:cs typeface="Montserrat"/>
              </a:rPr>
              <a:t>THE SOLUTION</a:t>
            </a:r>
            <a:endParaRPr lang="en-US" sz="1300" dirty="0"/>
          </a:p>
        </p:txBody>
      </p:sp>
      <p:sp>
        <p:nvSpPr>
          <p:cNvPr id="4" name="Text 4"/>
          <p:cNvSpPr txBox="1"/>
          <p:nvPr/>
        </p:nvSpPr>
        <p:spPr>
          <a:xfrm>
            <a:off x="685800" y="850392"/>
            <a:ext cx="10789920" cy="914400"/>
          </a:xfrm>
          <a:prstGeom prst="rect">
            <a:avLst/>
          </a:prstGeom>
          <a:noFill/>
          <a:ln>
            <a:noFill/>
          </a:ln>
        </p:spPr>
        <p:txBody>
          <a:bodyPr wrap="square" lIns="73152" tIns="73152" rIns="73152" bIns="73152" anchor="t">
            <a:noAutofit/>
          </a:bodyPr>
          <a:lstStyle/>
          <a:p>
            <a:pPr algn="l">
              <a:buNone/>
            </a:pPr>
            <a:r>
              <a:rPr lang="en-US" sz="3400" b="1" i="0" dirty="0">
                <a:solidFill>
                  <a:srgbClr val="E6EDF3"/>
                </a:solidFill>
                <a:latin typeface="Montserrat"/>
                <a:cs typeface="Montserrat"/>
              </a:rPr>
              <a:t>Every recording is scored, explained and routed</a:t>
            </a:r>
            <a:endParaRPr lang="en-US" sz="3400" dirty="0"/>
          </a:p>
        </p:txBody>
      </p:sp>
      <p:sp>
        <p:nvSpPr>
          <p:cNvPr id="5" name="Text 5"/>
          <p:cNvSpPr txBox="1"/>
          <p:nvPr/>
        </p:nvSpPr>
        <p:spPr>
          <a:xfrm>
            <a:off x="685800" y="1691640"/>
            <a:ext cx="10789920" cy="548640"/>
          </a:xfrm>
          <a:prstGeom prst="rect">
            <a:avLst/>
          </a:prstGeom>
          <a:noFill/>
          <a:ln>
            <a:noFill/>
          </a:ln>
        </p:spPr>
        <p:txBody>
          <a:bodyPr wrap="square" lIns="73152" tIns="73152" rIns="73152" bIns="73152" anchor="t">
            <a:noAutofit/>
          </a:bodyPr>
          <a:lstStyle/>
          <a:p>
            <a:pPr algn="l">
              <a:buNone/>
            </a:pPr>
            <a:r>
              <a:rPr lang="en-US" sz="1700" b="0" i="0" dirty="0">
                <a:solidFill>
                  <a:srgbClr val="9FB3C8"/>
                </a:solidFill>
                <a:latin typeface="Open Sans"/>
                <a:cs typeface="Open Sans"/>
              </a:rPr>
              <a:t>One score from 0 to 100, with the reasons behind it. The thresholds are yours to set.</a:t>
            </a:r>
            <a:endParaRPr lang="en-US" sz="1700" dirty="0"/>
          </a:p>
        </p:txBody>
      </p:sp>
      <p:sp>
        <p:nvSpPr>
          <p:cNvPr id="6" name="Shape 6"/>
          <p:cNvSpPr/>
          <p:nvPr/>
        </p:nvSpPr>
        <p:spPr>
          <a:xfrm>
            <a:off x="685800" y="2514600"/>
            <a:ext cx="3429000" cy="2651760"/>
          </a:xfrm>
          <a:prstGeom prst="roundRect">
            <a:avLst>
              <a:gd name="adj" fmla="val 10000"/>
            </a:avLst>
          </a:prstGeom>
          <a:solidFill>
            <a:srgbClr val="151C26"/>
          </a:solidFill>
          <a:ln w="15875">
            <a:solidFill>
              <a:srgbClr val="2E9E44"/>
            </a:solidFill>
          </a:ln>
        </p:spPr>
        <p:txBody>
          <a:bodyPr/>
          <a:lstStyle/>
          <a:p>
            <a:endParaRPr lang="en-US"/>
          </a:p>
        </p:txBody>
      </p:sp>
      <p:sp>
        <p:nvSpPr>
          <p:cNvPr id="7" name="Text 7"/>
          <p:cNvSpPr txBox="1"/>
          <p:nvPr/>
        </p:nvSpPr>
        <p:spPr>
          <a:xfrm>
            <a:off x="685800" y="2697480"/>
            <a:ext cx="3429000" cy="640080"/>
          </a:xfrm>
          <a:prstGeom prst="rect">
            <a:avLst/>
          </a:prstGeom>
          <a:noFill/>
          <a:ln>
            <a:noFill/>
          </a:ln>
        </p:spPr>
        <p:txBody>
          <a:bodyPr wrap="square" lIns="73152" tIns="73152" rIns="73152" bIns="73152" anchor="t">
            <a:noAutofit/>
          </a:bodyPr>
          <a:lstStyle/>
          <a:p>
            <a:pPr algn="ctr">
              <a:buNone/>
            </a:pPr>
            <a:r>
              <a:rPr lang="en-US" sz="3000" b="1" i="0" dirty="0">
                <a:solidFill>
                  <a:srgbClr val="2E9E44"/>
                </a:solidFill>
                <a:latin typeface="Montserrat"/>
                <a:cs typeface="Montserrat"/>
              </a:rPr>
              <a:t>ACCEPT</a:t>
            </a:r>
            <a:endParaRPr lang="en-US" sz="3000" dirty="0"/>
          </a:p>
        </p:txBody>
      </p:sp>
      <p:sp>
        <p:nvSpPr>
          <p:cNvPr id="8" name="Text 8"/>
          <p:cNvSpPr txBox="1"/>
          <p:nvPr/>
        </p:nvSpPr>
        <p:spPr>
          <a:xfrm>
            <a:off x="868680" y="3474720"/>
            <a:ext cx="3063240" cy="457200"/>
          </a:xfrm>
          <a:prstGeom prst="rect">
            <a:avLst/>
          </a:prstGeom>
          <a:noFill/>
          <a:ln>
            <a:noFill/>
          </a:ln>
        </p:spPr>
        <p:txBody>
          <a:bodyPr wrap="square" lIns="73152" tIns="73152" rIns="73152" bIns="73152" anchor="t">
            <a:noAutofit/>
          </a:bodyPr>
          <a:lstStyle/>
          <a:p>
            <a:pPr algn="ctr">
              <a:buNone/>
            </a:pPr>
            <a:r>
              <a:rPr lang="en-US" sz="1800" b="1" i="0" dirty="0">
                <a:solidFill>
                  <a:srgbClr val="E6EDF3"/>
                </a:solidFill>
                <a:latin typeface="Open Sans"/>
                <a:cs typeface="Open Sans"/>
              </a:rPr>
              <a:t>Clean staging store</a:t>
            </a:r>
            <a:endParaRPr lang="en-US" sz="1800" dirty="0"/>
          </a:p>
        </p:txBody>
      </p:sp>
      <p:sp>
        <p:nvSpPr>
          <p:cNvPr id="9" name="Text 9"/>
          <p:cNvSpPr txBox="1"/>
          <p:nvPr/>
        </p:nvSpPr>
        <p:spPr>
          <a:xfrm>
            <a:off x="868680" y="3977640"/>
            <a:ext cx="3063240" cy="914400"/>
          </a:xfrm>
          <a:prstGeom prst="rect">
            <a:avLst/>
          </a:prstGeom>
          <a:noFill/>
          <a:ln>
            <a:noFill/>
          </a:ln>
        </p:spPr>
        <p:txBody>
          <a:bodyPr wrap="square" lIns="73152" tIns="73152" rIns="73152" bIns="73152" anchor="t">
            <a:noAutofit/>
          </a:bodyPr>
          <a:lstStyle/>
          <a:p>
            <a:pPr algn="ctr">
              <a:buNone/>
            </a:pPr>
            <a:r>
              <a:rPr lang="en-US" sz="1400" b="0" i="0" dirty="0">
                <a:solidFill>
                  <a:srgbClr val="9FB3C8"/>
                </a:solidFill>
                <a:latin typeface="Open Sans"/>
                <a:cs typeface="Open Sans"/>
              </a:rPr>
              <a:t>Ready for training.</a:t>
            </a:r>
            <a:endParaRPr lang="en-US" sz="1400" dirty="0"/>
          </a:p>
        </p:txBody>
      </p:sp>
      <p:sp>
        <p:nvSpPr>
          <p:cNvPr id="10" name="Shape 10"/>
          <p:cNvSpPr/>
          <p:nvPr/>
        </p:nvSpPr>
        <p:spPr>
          <a:xfrm>
            <a:off x="4343400" y="2514600"/>
            <a:ext cx="3429000" cy="2651760"/>
          </a:xfrm>
          <a:prstGeom prst="roundRect">
            <a:avLst>
              <a:gd name="adj" fmla="val 10000"/>
            </a:avLst>
          </a:prstGeom>
          <a:solidFill>
            <a:srgbClr val="151C26"/>
          </a:solidFill>
          <a:ln w="15875">
            <a:solidFill>
              <a:srgbClr val="D9A400"/>
            </a:solidFill>
          </a:ln>
        </p:spPr>
        <p:txBody>
          <a:bodyPr/>
          <a:lstStyle/>
          <a:p>
            <a:endParaRPr lang="en-US"/>
          </a:p>
        </p:txBody>
      </p:sp>
      <p:sp>
        <p:nvSpPr>
          <p:cNvPr id="11" name="Text 11"/>
          <p:cNvSpPr txBox="1"/>
          <p:nvPr/>
        </p:nvSpPr>
        <p:spPr>
          <a:xfrm>
            <a:off x="4343400" y="2697480"/>
            <a:ext cx="3429000" cy="640080"/>
          </a:xfrm>
          <a:prstGeom prst="rect">
            <a:avLst/>
          </a:prstGeom>
          <a:noFill/>
          <a:ln>
            <a:noFill/>
          </a:ln>
        </p:spPr>
        <p:txBody>
          <a:bodyPr wrap="square" lIns="73152" tIns="73152" rIns="73152" bIns="73152" anchor="t">
            <a:noAutofit/>
          </a:bodyPr>
          <a:lstStyle/>
          <a:p>
            <a:pPr algn="ctr">
              <a:buNone/>
            </a:pPr>
            <a:r>
              <a:rPr lang="en-US" sz="3000" b="1" i="0" dirty="0">
                <a:solidFill>
                  <a:srgbClr val="D9A400"/>
                </a:solidFill>
                <a:latin typeface="Montserrat"/>
                <a:cs typeface="Montserrat"/>
              </a:rPr>
              <a:t>REVIEW</a:t>
            </a:r>
            <a:endParaRPr lang="en-US" sz="3000" dirty="0"/>
          </a:p>
        </p:txBody>
      </p:sp>
      <p:sp>
        <p:nvSpPr>
          <p:cNvPr id="12" name="Text 12"/>
          <p:cNvSpPr txBox="1"/>
          <p:nvPr/>
        </p:nvSpPr>
        <p:spPr>
          <a:xfrm>
            <a:off x="4526280" y="3474720"/>
            <a:ext cx="3063240" cy="457200"/>
          </a:xfrm>
          <a:prstGeom prst="rect">
            <a:avLst/>
          </a:prstGeom>
          <a:noFill/>
          <a:ln>
            <a:noFill/>
          </a:ln>
        </p:spPr>
        <p:txBody>
          <a:bodyPr wrap="square" lIns="73152" tIns="73152" rIns="73152" bIns="73152" anchor="t">
            <a:noAutofit/>
          </a:bodyPr>
          <a:lstStyle/>
          <a:p>
            <a:pPr algn="ctr">
              <a:buNone/>
            </a:pPr>
            <a:r>
              <a:rPr lang="en-US" sz="1800" b="1" i="0" dirty="0">
                <a:solidFill>
                  <a:srgbClr val="E6EDF3"/>
                </a:solidFill>
                <a:latin typeface="Open Sans"/>
                <a:cs typeface="Open Sans"/>
              </a:rPr>
              <a:t>Held for a human</a:t>
            </a:r>
            <a:endParaRPr lang="en-US" sz="1800" dirty="0"/>
          </a:p>
        </p:txBody>
      </p:sp>
      <p:sp>
        <p:nvSpPr>
          <p:cNvPr id="13" name="Text 13"/>
          <p:cNvSpPr txBox="1"/>
          <p:nvPr/>
        </p:nvSpPr>
        <p:spPr>
          <a:xfrm>
            <a:off x="4526280" y="3977640"/>
            <a:ext cx="3063240" cy="914400"/>
          </a:xfrm>
          <a:prstGeom prst="rect">
            <a:avLst/>
          </a:prstGeom>
          <a:noFill/>
          <a:ln>
            <a:noFill/>
          </a:ln>
        </p:spPr>
        <p:txBody>
          <a:bodyPr wrap="square" lIns="73152" tIns="73152" rIns="73152" bIns="73152" anchor="t">
            <a:noAutofit/>
          </a:bodyPr>
          <a:lstStyle/>
          <a:p>
            <a:pPr algn="ctr">
              <a:buNone/>
            </a:pPr>
            <a:r>
              <a:rPr lang="en-US" sz="1400" b="0" i="0" dirty="0">
                <a:solidFill>
                  <a:srgbClr val="9FB3C8"/>
                </a:solidFill>
                <a:latin typeface="Open Sans"/>
                <a:cs typeface="Open Sans"/>
              </a:rPr>
              <a:t>The gate isn't sure, so it asks.</a:t>
            </a:r>
            <a:endParaRPr lang="en-US" sz="1400" dirty="0"/>
          </a:p>
        </p:txBody>
      </p:sp>
      <p:sp>
        <p:nvSpPr>
          <p:cNvPr id="14" name="Shape 14"/>
          <p:cNvSpPr/>
          <p:nvPr/>
        </p:nvSpPr>
        <p:spPr>
          <a:xfrm>
            <a:off x="8001000" y="2514600"/>
            <a:ext cx="3429000" cy="2651760"/>
          </a:xfrm>
          <a:prstGeom prst="roundRect">
            <a:avLst>
              <a:gd name="adj" fmla="val 10000"/>
            </a:avLst>
          </a:prstGeom>
          <a:solidFill>
            <a:srgbClr val="151C26"/>
          </a:solidFill>
          <a:ln w="15875">
            <a:solidFill>
              <a:srgbClr val="D64545"/>
            </a:solidFill>
          </a:ln>
        </p:spPr>
        <p:txBody>
          <a:bodyPr/>
          <a:lstStyle/>
          <a:p>
            <a:endParaRPr lang="en-US"/>
          </a:p>
        </p:txBody>
      </p:sp>
      <p:sp>
        <p:nvSpPr>
          <p:cNvPr id="15" name="Text 15"/>
          <p:cNvSpPr txBox="1"/>
          <p:nvPr/>
        </p:nvSpPr>
        <p:spPr>
          <a:xfrm>
            <a:off x="8001000" y="2697480"/>
            <a:ext cx="3429000" cy="640080"/>
          </a:xfrm>
          <a:prstGeom prst="rect">
            <a:avLst/>
          </a:prstGeom>
          <a:noFill/>
          <a:ln>
            <a:noFill/>
          </a:ln>
        </p:spPr>
        <p:txBody>
          <a:bodyPr wrap="square" lIns="73152" tIns="73152" rIns="73152" bIns="73152" anchor="t">
            <a:noAutofit/>
          </a:bodyPr>
          <a:lstStyle/>
          <a:p>
            <a:pPr algn="ctr">
              <a:buNone/>
            </a:pPr>
            <a:r>
              <a:rPr lang="en-US" sz="3000" b="1" i="0" dirty="0">
                <a:solidFill>
                  <a:srgbClr val="D64545"/>
                </a:solidFill>
                <a:latin typeface="Montserrat"/>
                <a:cs typeface="Montserrat"/>
              </a:rPr>
              <a:t>REJECT</a:t>
            </a:r>
            <a:endParaRPr lang="en-US" sz="3000" dirty="0"/>
          </a:p>
        </p:txBody>
      </p:sp>
      <p:sp>
        <p:nvSpPr>
          <p:cNvPr id="16" name="Text 16"/>
          <p:cNvSpPr txBox="1"/>
          <p:nvPr/>
        </p:nvSpPr>
        <p:spPr>
          <a:xfrm>
            <a:off x="8183880" y="3474720"/>
            <a:ext cx="3063240" cy="457200"/>
          </a:xfrm>
          <a:prstGeom prst="rect">
            <a:avLst/>
          </a:prstGeom>
          <a:noFill/>
          <a:ln>
            <a:noFill/>
          </a:ln>
        </p:spPr>
        <p:txBody>
          <a:bodyPr wrap="square" lIns="73152" tIns="73152" rIns="73152" bIns="73152" anchor="t">
            <a:noAutofit/>
          </a:bodyPr>
          <a:lstStyle/>
          <a:p>
            <a:pPr algn="ctr">
              <a:buNone/>
            </a:pPr>
            <a:r>
              <a:rPr lang="en-US" sz="1800" b="1" i="0" dirty="0">
                <a:solidFill>
                  <a:srgbClr val="E6EDF3"/>
                </a:solidFill>
                <a:latin typeface="Open Sans"/>
                <a:cs typeface="Open Sans"/>
              </a:rPr>
              <a:t>Quarantined</a:t>
            </a:r>
            <a:endParaRPr lang="en-US" sz="1800" dirty="0"/>
          </a:p>
        </p:txBody>
      </p:sp>
      <p:sp>
        <p:nvSpPr>
          <p:cNvPr id="17" name="Text 17"/>
          <p:cNvSpPr txBox="1"/>
          <p:nvPr/>
        </p:nvSpPr>
        <p:spPr>
          <a:xfrm>
            <a:off x="8183880" y="3977640"/>
            <a:ext cx="3063240" cy="914400"/>
          </a:xfrm>
          <a:prstGeom prst="rect">
            <a:avLst/>
          </a:prstGeom>
          <a:noFill/>
          <a:ln>
            <a:noFill/>
          </a:ln>
        </p:spPr>
        <p:txBody>
          <a:bodyPr wrap="square" lIns="73152" tIns="73152" rIns="73152" bIns="73152" anchor="t">
            <a:noAutofit/>
          </a:bodyPr>
          <a:lstStyle/>
          <a:p>
            <a:pPr algn="ctr">
              <a:buNone/>
            </a:pPr>
            <a:r>
              <a:rPr lang="en-US" sz="1400" b="0" i="0" dirty="0">
                <a:solidFill>
                  <a:srgbClr val="9FB3C8"/>
                </a:solidFill>
                <a:latin typeface="Open Sans"/>
                <a:cs typeface="Open Sans"/>
              </a:rPr>
              <a:t>Integrity failures never reach training.</a:t>
            </a:r>
            <a:endParaRPr lang="en-US" sz="1400" dirty="0"/>
          </a:p>
        </p:txBody>
      </p:sp>
      <p:sp>
        <p:nvSpPr>
          <p:cNvPr id="18" name="Text 18"/>
          <p:cNvSpPr txBox="1"/>
          <p:nvPr/>
        </p:nvSpPr>
        <p:spPr>
          <a:xfrm>
            <a:off x="685800" y="5440680"/>
            <a:ext cx="10789920" cy="548640"/>
          </a:xfrm>
          <a:prstGeom prst="rect">
            <a:avLst/>
          </a:prstGeom>
          <a:noFill/>
          <a:ln>
            <a:noFill/>
          </a:ln>
        </p:spPr>
        <p:txBody>
          <a:bodyPr wrap="square" lIns="73152" tIns="73152" rIns="73152" bIns="73152" anchor="t">
            <a:noAutofit/>
          </a:bodyPr>
          <a:lstStyle/>
          <a:p>
            <a:pPr algn="l">
              <a:buNone/>
            </a:pPr>
            <a:r>
              <a:rPr lang="en-US" sz="1500" b="0" i="0" dirty="0">
                <a:solidFill>
                  <a:srgbClr val="E6EDF3"/>
                </a:solidFill>
                <a:latin typeface="Open Sans"/>
                <a:cs typeface="Open Sans"/>
              </a:rPr>
              <a:t>Every decision is written to an append-only audit log, keyed by the recording's content ID.</a:t>
            </a:r>
            <a:endParaRPr lang="en-US" sz="1500" dirty="0"/>
          </a:p>
        </p:txBody>
      </p:sp>
      <p:sp>
        <p:nvSpPr>
          <p:cNvPr id="19" name="Shape 19"/>
          <p:cNvSpPr/>
          <p:nvPr/>
        </p:nvSpPr>
        <p:spPr>
          <a:xfrm>
            <a:off x="685800" y="6419088"/>
            <a:ext cx="502920" cy="45720"/>
          </a:xfrm>
          <a:prstGeom prst="rect">
            <a:avLst/>
          </a:prstGeom>
          <a:solidFill>
            <a:srgbClr val="2DD4BF"/>
          </a:solidFill>
          <a:ln>
            <a:noFill/>
          </a:ln>
        </p:spPr>
        <p:txBody>
          <a:bodyPr/>
          <a:lstStyle/>
          <a:p>
            <a:endParaRPr lang="en-US"/>
          </a:p>
        </p:txBody>
      </p:sp>
      <p:sp>
        <p:nvSpPr>
          <p:cNvPr id="20" name="Text 20"/>
          <p:cNvSpPr txBox="1"/>
          <p:nvPr/>
        </p:nvSpPr>
        <p:spPr>
          <a:xfrm>
            <a:off x="1280160" y="6272784"/>
            <a:ext cx="5486400" cy="320040"/>
          </a:xfrm>
          <a:prstGeom prst="rect">
            <a:avLst/>
          </a:prstGeom>
          <a:noFill/>
          <a:ln>
            <a:noFill/>
          </a:ln>
        </p:spPr>
        <p:txBody>
          <a:bodyPr wrap="square" lIns="73152" tIns="73152" rIns="73152" bIns="73152" anchor="t">
            <a:noAutofit/>
          </a:bodyPr>
          <a:lstStyle/>
          <a:p>
            <a:pPr algn="l">
              <a:buNone/>
            </a:pPr>
            <a:r>
              <a:rPr lang="en-US" sz="1000" b="0" i="0" dirty="0">
                <a:solidFill>
                  <a:srgbClr val="9FB3C8"/>
                </a:solidFill>
                <a:latin typeface="Open Sans"/>
                <a:cs typeface="Open Sans"/>
              </a:rPr>
              <a:t>DataMon  ·  Hackachusetts  ·  Robotics &amp; Hardware</a:t>
            </a:r>
            <a:endParaRPr lang="en-US" sz="1000" dirty="0"/>
          </a:p>
        </p:txBody>
      </p:sp>
      <p:sp>
        <p:nvSpPr>
          <p:cNvPr id="21" name="Text 21"/>
          <p:cNvSpPr txBox="1"/>
          <p:nvPr/>
        </p:nvSpPr>
        <p:spPr>
          <a:xfrm>
            <a:off x="10607040" y="6272784"/>
            <a:ext cx="914400" cy="320040"/>
          </a:xfrm>
          <a:prstGeom prst="rect">
            <a:avLst/>
          </a:prstGeom>
          <a:noFill/>
          <a:ln>
            <a:noFill/>
          </a:ln>
        </p:spPr>
        <p:txBody>
          <a:bodyPr wrap="square" lIns="73152" tIns="73152" rIns="73152" bIns="73152" anchor="t">
            <a:noAutofit/>
          </a:bodyPr>
          <a:lstStyle/>
          <a:p>
            <a:pPr algn="r">
              <a:buNone/>
            </a:pPr>
            <a:r>
              <a:rPr lang="en-US" sz="1000" b="0" i="0" dirty="0">
                <a:solidFill>
                  <a:srgbClr val="9FB3C8"/>
                </a:solidFill>
                <a:latin typeface="Open Sans"/>
                <a:cs typeface="Open Sans"/>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p:cNvGrpSpPr/>
        <p:nvPr/>
      </p:nvGrpSpPr>
      <p:grpSpPr>
        <a:xfrm>
          <a:off x="0" y="0"/>
          <a:ext cx="0" cy="0"/>
          <a:chOff x="0" y="0"/>
          <a:chExt cx="0" cy="0"/>
        </a:xfrm>
      </p:grpSpPr>
      <p:sp>
        <p:nvSpPr>
          <p:cNvPr id="3" name="Text 3"/>
          <p:cNvSpPr txBox="1"/>
          <p:nvPr/>
        </p:nvSpPr>
        <p:spPr>
          <a:xfrm>
            <a:off x="685800" y="502920"/>
            <a:ext cx="10789920" cy="365760"/>
          </a:xfrm>
          <a:prstGeom prst="rect">
            <a:avLst/>
          </a:prstGeom>
          <a:noFill/>
          <a:ln>
            <a:noFill/>
          </a:ln>
        </p:spPr>
        <p:txBody>
          <a:bodyPr wrap="square" lIns="73152" tIns="73152" rIns="73152" bIns="73152" anchor="t">
            <a:noAutofit/>
          </a:bodyPr>
          <a:lstStyle/>
          <a:p>
            <a:pPr algn="l">
              <a:buNone/>
            </a:pPr>
            <a:r>
              <a:rPr lang="en-US" sz="1300" b="1" i="0" dirty="0">
                <a:solidFill>
                  <a:srgbClr val="2DD4BF"/>
                </a:solidFill>
                <a:latin typeface="Montserrat"/>
                <a:cs typeface="Montserrat"/>
              </a:rPr>
              <a:t>HOW IT WORKS</a:t>
            </a:r>
            <a:endParaRPr lang="en-US" sz="1300" dirty="0"/>
          </a:p>
        </p:txBody>
      </p:sp>
      <p:sp>
        <p:nvSpPr>
          <p:cNvPr id="4" name="Text 4"/>
          <p:cNvSpPr txBox="1"/>
          <p:nvPr/>
        </p:nvSpPr>
        <p:spPr>
          <a:xfrm>
            <a:off x="685800" y="850392"/>
            <a:ext cx="10789920" cy="914400"/>
          </a:xfrm>
          <a:prstGeom prst="rect">
            <a:avLst/>
          </a:prstGeom>
          <a:noFill/>
          <a:ln>
            <a:noFill/>
          </a:ln>
        </p:spPr>
        <p:txBody>
          <a:bodyPr wrap="square" lIns="73152" tIns="73152" rIns="73152" bIns="73152" anchor="t">
            <a:noAutofit/>
          </a:bodyPr>
          <a:lstStyle/>
          <a:p>
            <a:pPr algn="l">
              <a:buNone/>
            </a:pPr>
            <a:r>
              <a:rPr lang="en-US" sz="3400" b="1" i="0" dirty="0">
                <a:solidFill>
                  <a:srgbClr val="E6EDF3"/>
                </a:solidFill>
                <a:latin typeface="Montserrat"/>
                <a:cs typeface="Montserrat"/>
              </a:rPr>
              <a:t>Four checks, in plain terms</a:t>
            </a:r>
            <a:endParaRPr lang="en-US" sz="3400" dirty="0"/>
          </a:p>
        </p:txBody>
      </p:sp>
      <p:sp>
        <p:nvSpPr>
          <p:cNvPr id="5" name="Shape 5"/>
          <p:cNvSpPr/>
          <p:nvPr/>
        </p:nvSpPr>
        <p:spPr>
          <a:xfrm>
            <a:off x="685800" y="2011680"/>
            <a:ext cx="2560320" cy="2148840"/>
          </a:xfrm>
          <a:prstGeom prst="roundRect">
            <a:avLst>
              <a:gd name="adj" fmla="val 10000"/>
            </a:avLst>
          </a:prstGeom>
          <a:solidFill>
            <a:srgbClr val="151C26"/>
          </a:solidFill>
          <a:ln w="15875">
            <a:solidFill>
              <a:srgbClr val="23414A"/>
            </a:solidFill>
          </a:ln>
        </p:spPr>
        <p:txBody>
          <a:bodyPr/>
          <a:lstStyle/>
          <a:p>
            <a:endParaRPr lang="en-US"/>
          </a:p>
        </p:txBody>
      </p:sp>
      <p:sp>
        <p:nvSpPr>
          <p:cNvPr id="6" name="Shape 6"/>
          <p:cNvSpPr/>
          <p:nvPr/>
        </p:nvSpPr>
        <p:spPr>
          <a:xfrm>
            <a:off x="685800" y="2176272"/>
            <a:ext cx="64008" cy="1819656"/>
          </a:xfrm>
          <a:prstGeom prst="rect">
            <a:avLst/>
          </a:prstGeom>
          <a:solidFill>
            <a:srgbClr val="2DD4BF"/>
          </a:solidFill>
          <a:ln>
            <a:noFill/>
          </a:ln>
        </p:spPr>
        <p:txBody>
          <a:bodyPr/>
          <a:lstStyle/>
          <a:p>
            <a:endParaRPr lang="en-US"/>
          </a:p>
        </p:txBody>
      </p:sp>
      <p:sp>
        <p:nvSpPr>
          <p:cNvPr id="7" name="Text 7"/>
          <p:cNvSpPr txBox="1"/>
          <p:nvPr/>
        </p:nvSpPr>
        <p:spPr>
          <a:xfrm>
            <a:off x="914400" y="2148840"/>
            <a:ext cx="2194560" cy="457200"/>
          </a:xfrm>
          <a:prstGeom prst="rect">
            <a:avLst/>
          </a:prstGeom>
          <a:noFill/>
          <a:ln>
            <a:noFill/>
          </a:ln>
        </p:spPr>
        <p:txBody>
          <a:bodyPr wrap="square" lIns="73152" tIns="73152" rIns="73152" bIns="73152" anchor="t">
            <a:noAutofit/>
          </a:bodyPr>
          <a:lstStyle/>
          <a:p>
            <a:pPr algn="l">
              <a:buNone/>
            </a:pPr>
            <a:r>
              <a:rPr lang="en-US" sz="1700" b="1" i="0" dirty="0">
                <a:solidFill>
                  <a:srgbClr val="2DD4BF"/>
                </a:solidFill>
                <a:latin typeface="Montserrat"/>
                <a:cs typeface="Montserrat"/>
              </a:rPr>
              <a:t>1  Integrity</a:t>
            </a:r>
            <a:endParaRPr lang="en-US" sz="1700" dirty="0"/>
          </a:p>
        </p:txBody>
      </p:sp>
      <p:sp>
        <p:nvSpPr>
          <p:cNvPr id="8" name="Text 8"/>
          <p:cNvSpPr txBox="1"/>
          <p:nvPr/>
        </p:nvSpPr>
        <p:spPr>
          <a:xfrm>
            <a:off x="914400" y="2578608"/>
            <a:ext cx="2194560" cy="1463040"/>
          </a:xfrm>
          <a:prstGeom prst="rect">
            <a:avLst/>
          </a:prstGeom>
          <a:noFill/>
          <a:ln>
            <a:noFill/>
          </a:ln>
        </p:spPr>
        <p:txBody>
          <a:bodyPr wrap="square" lIns="73152" tIns="73152" rIns="73152" bIns="73152" anchor="t">
            <a:noAutofit/>
          </a:bodyPr>
          <a:lstStyle/>
          <a:p>
            <a:pPr algn="l">
              <a:buNone/>
            </a:pPr>
            <a:r>
              <a:rPr lang="en-US" sz="1300" b="0" i="0" dirty="0">
                <a:solidFill>
                  <a:srgbClr val="E6EDF3"/>
                </a:solidFill>
                <a:latin typeface="Open Sans"/>
                <a:cs typeface="Open Sans"/>
              </a:rPr>
              <a:t>Is the timing steady? Any dropped frames, frozen channels or values out of range?</a:t>
            </a:r>
            <a:endParaRPr lang="en-US" sz="1300" dirty="0"/>
          </a:p>
        </p:txBody>
      </p:sp>
      <p:sp>
        <p:nvSpPr>
          <p:cNvPr id="9" name="Shape 9"/>
          <p:cNvSpPr/>
          <p:nvPr/>
        </p:nvSpPr>
        <p:spPr>
          <a:xfrm>
            <a:off x="3429000" y="2011680"/>
            <a:ext cx="2560320" cy="2148840"/>
          </a:xfrm>
          <a:prstGeom prst="roundRect">
            <a:avLst>
              <a:gd name="adj" fmla="val 10000"/>
            </a:avLst>
          </a:prstGeom>
          <a:solidFill>
            <a:srgbClr val="151C26"/>
          </a:solidFill>
          <a:ln w="15875">
            <a:solidFill>
              <a:srgbClr val="23414A"/>
            </a:solidFill>
          </a:ln>
        </p:spPr>
        <p:txBody>
          <a:bodyPr/>
          <a:lstStyle/>
          <a:p>
            <a:endParaRPr lang="en-US"/>
          </a:p>
        </p:txBody>
      </p:sp>
      <p:sp>
        <p:nvSpPr>
          <p:cNvPr id="10" name="Shape 10"/>
          <p:cNvSpPr/>
          <p:nvPr/>
        </p:nvSpPr>
        <p:spPr>
          <a:xfrm>
            <a:off x="3429000" y="2176272"/>
            <a:ext cx="64008" cy="1819656"/>
          </a:xfrm>
          <a:prstGeom prst="rect">
            <a:avLst/>
          </a:prstGeom>
          <a:solidFill>
            <a:srgbClr val="2DD4BF"/>
          </a:solidFill>
          <a:ln>
            <a:noFill/>
          </a:ln>
        </p:spPr>
        <p:txBody>
          <a:bodyPr/>
          <a:lstStyle/>
          <a:p>
            <a:endParaRPr lang="en-US"/>
          </a:p>
        </p:txBody>
      </p:sp>
      <p:sp>
        <p:nvSpPr>
          <p:cNvPr id="11" name="Text 11"/>
          <p:cNvSpPr txBox="1"/>
          <p:nvPr/>
        </p:nvSpPr>
        <p:spPr>
          <a:xfrm>
            <a:off x="3657600" y="2148840"/>
            <a:ext cx="2194560" cy="457200"/>
          </a:xfrm>
          <a:prstGeom prst="rect">
            <a:avLst/>
          </a:prstGeom>
          <a:noFill/>
          <a:ln>
            <a:noFill/>
          </a:ln>
        </p:spPr>
        <p:txBody>
          <a:bodyPr wrap="square" lIns="73152" tIns="73152" rIns="73152" bIns="73152" anchor="t">
            <a:noAutofit/>
          </a:bodyPr>
          <a:lstStyle/>
          <a:p>
            <a:pPr algn="l">
              <a:buNone/>
            </a:pPr>
            <a:r>
              <a:rPr lang="en-US" sz="1700" b="1" i="0" dirty="0">
                <a:solidFill>
                  <a:srgbClr val="2DD4BF"/>
                </a:solidFill>
                <a:latin typeface="Montserrat"/>
                <a:cs typeface="Montserrat"/>
              </a:rPr>
              <a:t>2  Labels</a:t>
            </a:r>
            <a:endParaRPr lang="en-US" sz="1700" dirty="0"/>
          </a:p>
        </p:txBody>
      </p:sp>
      <p:sp>
        <p:nvSpPr>
          <p:cNvPr id="12" name="Text 12"/>
          <p:cNvSpPr txBox="1"/>
          <p:nvPr/>
        </p:nvSpPr>
        <p:spPr>
          <a:xfrm>
            <a:off x="3657600" y="2578608"/>
            <a:ext cx="2194560" cy="1463040"/>
          </a:xfrm>
          <a:prstGeom prst="rect">
            <a:avLst/>
          </a:prstGeom>
          <a:noFill/>
          <a:ln>
            <a:noFill/>
          </a:ln>
        </p:spPr>
        <p:txBody>
          <a:bodyPr wrap="square" lIns="73152" tIns="73152" rIns="73152" bIns="73152" anchor="t">
            <a:noAutofit/>
          </a:bodyPr>
          <a:lstStyle/>
          <a:p>
            <a:pPr algn="l">
              <a:buNone/>
            </a:pPr>
            <a:r>
              <a:rPr lang="en-US" sz="1300" b="0" i="0" dirty="0">
                <a:solidFill>
                  <a:srgbClr val="E6EDF3"/>
                </a:solidFill>
                <a:latin typeface="Open Sans"/>
                <a:cs typeface="Open Sans"/>
              </a:rPr>
              <a:t>Was the robot told what it was doing? Missing or gibberish task text is flagged.</a:t>
            </a:r>
            <a:endParaRPr lang="en-US" sz="1300" dirty="0"/>
          </a:p>
        </p:txBody>
      </p:sp>
      <p:sp>
        <p:nvSpPr>
          <p:cNvPr id="13" name="Shape 13"/>
          <p:cNvSpPr/>
          <p:nvPr/>
        </p:nvSpPr>
        <p:spPr>
          <a:xfrm>
            <a:off x="6172200" y="2011680"/>
            <a:ext cx="2560320" cy="2148840"/>
          </a:xfrm>
          <a:prstGeom prst="roundRect">
            <a:avLst>
              <a:gd name="adj" fmla="val 10000"/>
            </a:avLst>
          </a:prstGeom>
          <a:solidFill>
            <a:srgbClr val="151C26"/>
          </a:solidFill>
          <a:ln w="15875">
            <a:solidFill>
              <a:srgbClr val="23414A"/>
            </a:solidFill>
          </a:ln>
        </p:spPr>
        <p:txBody>
          <a:bodyPr/>
          <a:lstStyle/>
          <a:p>
            <a:endParaRPr lang="en-US"/>
          </a:p>
        </p:txBody>
      </p:sp>
      <p:sp>
        <p:nvSpPr>
          <p:cNvPr id="14" name="Shape 14"/>
          <p:cNvSpPr/>
          <p:nvPr/>
        </p:nvSpPr>
        <p:spPr>
          <a:xfrm>
            <a:off x="6172200" y="2176272"/>
            <a:ext cx="64008" cy="1819656"/>
          </a:xfrm>
          <a:prstGeom prst="rect">
            <a:avLst/>
          </a:prstGeom>
          <a:solidFill>
            <a:srgbClr val="2DD4BF"/>
          </a:solidFill>
          <a:ln>
            <a:noFill/>
          </a:ln>
        </p:spPr>
        <p:txBody>
          <a:bodyPr/>
          <a:lstStyle/>
          <a:p>
            <a:endParaRPr lang="en-US"/>
          </a:p>
        </p:txBody>
      </p:sp>
      <p:sp>
        <p:nvSpPr>
          <p:cNvPr id="15" name="Text 15"/>
          <p:cNvSpPr txBox="1"/>
          <p:nvPr/>
        </p:nvSpPr>
        <p:spPr>
          <a:xfrm>
            <a:off x="6400800" y="2148840"/>
            <a:ext cx="2194560" cy="457200"/>
          </a:xfrm>
          <a:prstGeom prst="rect">
            <a:avLst/>
          </a:prstGeom>
          <a:noFill/>
          <a:ln>
            <a:noFill/>
          </a:ln>
        </p:spPr>
        <p:txBody>
          <a:bodyPr wrap="square" lIns="73152" tIns="73152" rIns="73152" bIns="73152" anchor="t">
            <a:noAutofit/>
          </a:bodyPr>
          <a:lstStyle/>
          <a:p>
            <a:pPr algn="l">
              <a:buNone/>
            </a:pPr>
            <a:r>
              <a:rPr lang="en-US" sz="1700" b="1" i="0" dirty="0">
                <a:solidFill>
                  <a:srgbClr val="2DD4BF"/>
                </a:solidFill>
                <a:latin typeface="Montserrat"/>
                <a:cs typeface="Montserrat"/>
              </a:rPr>
              <a:t>3  Unusualness</a:t>
            </a:r>
            <a:endParaRPr lang="en-US" sz="1700" dirty="0"/>
          </a:p>
        </p:txBody>
      </p:sp>
      <p:sp>
        <p:nvSpPr>
          <p:cNvPr id="16" name="Text 16"/>
          <p:cNvSpPr txBox="1"/>
          <p:nvPr/>
        </p:nvSpPr>
        <p:spPr>
          <a:xfrm>
            <a:off x="6400800" y="2578608"/>
            <a:ext cx="2194560" cy="1463040"/>
          </a:xfrm>
          <a:prstGeom prst="rect">
            <a:avLst/>
          </a:prstGeom>
          <a:noFill/>
          <a:ln>
            <a:noFill/>
          </a:ln>
        </p:spPr>
        <p:txBody>
          <a:bodyPr wrap="square" lIns="73152" tIns="73152" rIns="73152" bIns="73152" anchor="t">
            <a:noAutofit/>
          </a:bodyPr>
          <a:lstStyle/>
          <a:p>
            <a:pPr algn="l">
              <a:buNone/>
            </a:pPr>
            <a:r>
              <a:rPr lang="en-US" sz="1300" b="0" i="0" dirty="0">
                <a:solidFill>
                  <a:srgbClr val="E6EDF3"/>
                </a:solidFill>
                <a:latin typeface="Open Sans"/>
                <a:cs typeface="Open Sans"/>
              </a:rPr>
              <a:t>How different is it from known-good recordings of the same task? A rank, not a probability.</a:t>
            </a:r>
            <a:endParaRPr lang="en-US" sz="1300" dirty="0"/>
          </a:p>
        </p:txBody>
      </p:sp>
      <p:sp>
        <p:nvSpPr>
          <p:cNvPr id="17" name="Shape 17"/>
          <p:cNvSpPr/>
          <p:nvPr/>
        </p:nvSpPr>
        <p:spPr>
          <a:xfrm>
            <a:off x="8915400" y="2011680"/>
            <a:ext cx="2560320" cy="2148840"/>
          </a:xfrm>
          <a:prstGeom prst="roundRect">
            <a:avLst>
              <a:gd name="adj" fmla="val 10000"/>
            </a:avLst>
          </a:prstGeom>
          <a:solidFill>
            <a:srgbClr val="151C26"/>
          </a:solidFill>
          <a:ln w="15875">
            <a:solidFill>
              <a:srgbClr val="23414A"/>
            </a:solidFill>
          </a:ln>
        </p:spPr>
        <p:txBody>
          <a:bodyPr/>
          <a:lstStyle/>
          <a:p>
            <a:endParaRPr lang="en-US"/>
          </a:p>
        </p:txBody>
      </p:sp>
      <p:sp>
        <p:nvSpPr>
          <p:cNvPr id="18" name="Shape 18"/>
          <p:cNvSpPr/>
          <p:nvPr/>
        </p:nvSpPr>
        <p:spPr>
          <a:xfrm>
            <a:off x="8915400" y="2176272"/>
            <a:ext cx="64008" cy="1819656"/>
          </a:xfrm>
          <a:prstGeom prst="rect">
            <a:avLst/>
          </a:prstGeom>
          <a:solidFill>
            <a:srgbClr val="2DD4BF"/>
          </a:solidFill>
          <a:ln>
            <a:noFill/>
          </a:ln>
        </p:spPr>
        <p:txBody>
          <a:bodyPr/>
          <a:lstStyle/>
          <a:p>
            <a:endParaRPr lang="en-US"/>
          </a:p>
        </p:txBody>
      </p:sp>
      <p:sp>
        <p:nvSpPr>
          <p:cNvPr id="19" name="Text 19"/>
          <p:cNvSpPr txBox="1"/>
          <p:nvPr/>
        </p:nvSpPr>
        <p:spPr>
          <a:xfrm>
            <a:off x="9144000" y="2148840"/>
            <a:ext cx="2194560" cy="457200"/>
          </a:xfrm>
          <a:prstGeom prst="rect">
            <a:avLst/>
          </a:prstGeom>
          <a:noFill/>
          <a:ln>
            <a:noFill/>
          </a:ln>
        </p:spPr>
        <p:txBody>
          <a:bodyPr wrap="square" lIns="73152" tIns="73152" rIns="73152" bIns="73152" anchor="t">
            <a:noAutofit/>
          </a:bodyPr>
          <a:lstStyle/>
          <a:p>
            <a:pPr algn="l">
              <a:buNone/>
            </a:pPr>
            <a:r>
              <a:rPr lang="en-US" sz="1700" b="1" i="0" dirty="0">
                <a:solidFill>
                  <a:srgbClr val="2DD4BF"/>
                </a:solidFill>
                <a:latin typeface="Montserrat"/>
                <a:cs typeface="Montserrat"/>
              </a:rPr>
              <a:t>4  Route + log</a:t>
            </a:r>
            <a:endParaRPr lang="en-US" sz="1700" dirty="0"/>
          </a:p>
        </p:txBody>
      </p:sp>
      <p:sp>
        <p:nvSpPr>
          <p:cNvPr id="20" name="Text 20"/>
          <p:cNvSpPr txBox="1"/>
          <p:nvPr/>
        </p:nvSpPr>
        <p:spPr>
          <a:xfrm>
            <a:off x="9144000" y="2578608"/>
            <a:ext cx="2194560" cy="1463040"/>
          </a:xfrm>
          <a:prstGeom prst="rect">
            <a:avLst/>
          </a:prstGeom>
          <a:noFill/>
          <a:ln>
            <a:noFill/>
          </a:ln>
        </p:spPr>
        <p:txBody>
          <a:bodyPr wrap="square" lIns="73152" tIns="73152" rIns="73152" bIns="73152" anchor="t">
            <a:noAutofit/>
          </a:bodyPr>
          <a:lstStyle/>
          <a:p>
            <a:pPr algn="l">
              <a:buNone/>
            </a:pPr>
            <a:r>
              <a:rPr lang="en-US" sz="1300" b="0" i="0" dirty="0">
                <a:solidFill>
                  <a:srgbClr val="E6EDF3"/>
                </a:solidFill>
                <a:latin typeface="Open Sans"/>
                <a:cs typeface="Open Sans"/>
              </a:rPr>
              <a:t>Accept, review or reject, and record why. History is never overwritten.</a:t>
            </a:r>
            <a:endParaRPr lang="en-US" sz="1300" dirty="0"/>
          </a:p>
        </p:txBody>
      </p:sp>
      <p:sp>
        <p:nvSpPr>
          <p:cNvPr id="21" name="Text 21"/>
          <p:cNvSpPr txBox="1"/>
          <p:nvPr/>
        </p:nvSpPr>
        <p:spPr>
          <a:xfrm>
            <a:off x="685800" y="4526280"/>
            <a:ext cx="10789920" cy="822960"/>
          </a:xfrm>
          <a:prstGeom prst="rect">
            <a:avLst/>
          </a:prstGeom>
          <a:noFill/>
          <a:ln>
            <a:noFill/>
          </a:ln>
        </p:spPr>
        <p:txBody>
          <a:bodyPr wrap="square" lIns="73152" tIns="73152" rIns="73152" bIns="73152" anchor="t">
            <a:noAutofit/>
          </a:bodyPr>
          <a:lstStyle/>
          <a:p>
            <a:pPr algn="l">
              <a:buNone/>
            </a:pPr>
            <a:r>
              <a:rPr lang="en-US" sz="1500" b="1" i="0" dirty="0">
                <a:solidFill>
                  <a:srgbClr val="2DD4BF"/>
                </a:solidFill>
                <a:latin typeface="Open Sans"/>
                <a:cs typeface="Open Sans"/>
              </a:rPr>
              <a:t>Works live too: </a:t>
            </a:r>
            <a:r>
              <a:rPr lang="en-US" sz="1500" b="0" i="0" dirty="0">
                <a:solidFill>
                  <a:srgbClr val="E6EDF3"/>
                </a:solidFill>
                <a:latin typeface="Open Sans"/>
                <a:cs typeface="Open Sans"/>
              </a:rPr>
              <a:t>a collector adapter streams frames from a running robot into the same gate, and per-robot profiles store each rig's expected rate and limits.</a:t>
            </a:r>
            <a:endParaRPr lang="en-US" sz="1500" dirty="0"/>
          </a:p>
        </p:txBody>
      </p:sp>
      <p:sp>
        <p:nvSpPr>
          <p:cNvPr id="22" name="Shape 22"/>
          <p:cNvSpPr/>
          <p:nvPr/>
        </p:nvSpPr>
        <p:spPr>
          <a:xfrm>
            <a:off x="685800" y="6419088"/>
            <a:ext cx="502920" cy="45720"/>
          </a:xfrm>
          <a:prstGeom prst="rect">
            <a:avLst/>
          </a:prstGeom>
          <a:solidFill>
            <a:srgbClr val="2DD4BF"/>
          </a:solidFill>
          <a:ln>
            <a:noFill/>
          </a:ln>
        </p:spPr>
        <p:txBody>
          <a:bodyPr/>
          <a:lstStyle/>
          <a:p>
            <a:endParaRPr lang="en-US"/>
          </a:p>
        </p:txBody>
      </p:sp>
      <p:sp>
        <p:nvSpPr>
          <p:cNvPr id="23" name="Text 23"/>
          <p:cNvSpPr txBox="1"/>
          <p:nvPr/>
        </p:nvSpPr>
        <p:spPr>
          <a:xfrm>
            <a:off x="1280160" y="6272784"/>
            <a:ext cx="5486400" cy="320040"/>
          </a:xfrm>
          <a:prstGeom prst="rect">
            <a:avLst/>
          </a:prstGeom>
          <a:noFill/>
          <a:ln>
            <a:noFill/>
          </a:ln>
        </p:spPr>
        <p:txBody>
          <a:bodyPr wrap="square" lIns="73152" tIns="73152" rIns="73152" bIns="73152" anchor="t">
            <a:noAutofit/>
          </a:bodyPr>
          <a:lstStyle/>
          <a:p>
            <a:pPr algn="l">
              <a:buNone/>
            </a:pPr>
            <a:r>
              <a:rPr lang="en-US" sz="1000" b="0" i="0" dirty="0">
                <a:solidFill>
                  <a:srgbClr val="9FB3C8"/>
                </a:solidFill>
                <a:latin typeface="Open Sans"/>
                <a:cs typeface="Open Sans"/>
              </a:rPr>
              <a:t>DataMon  ·  Hackachusetts  ·  Robotics &amp; Hardware</a:t>
            </a:r>
            <a:endParaRPr lang="en-US" sz="1000" dirty="0"/>
          </a:p>
        </p:txBody>
      </p:sp>
      <p:sp>
        <p:nvSpPr>
          <p:cNvPr id="24" name="Text 24"/>
          <p:cNvSpPr txBox="1"/>
          <p:nvPr/>
        </p:nvSpPr>
        <p:spPr>
          <a:xfrm>
            <a:off x="10607040" y="6272784"/>
            <a:ext cx="914400" cy="320040"/>
          </a:xfrm>
          <a:prstGeom prst="rect">
            <a:avLst/>
          </a:prstGeom>
          <a:noFill/>
          <a:ln>
            <a:noFill/>
          </a:ln>
        </p:spPr>
        <p:txBody>
          <a:bodyPr wrap="square" lIns="73152" tIns="73152" rIns="73152" bIns="73152" anchor="t">
            <a:noAutofit/>
          </a:bodyPr>
          <a:lstStyle/>
          <a:p>
            <a:pPr algn="r">
              <a:buNone/>
            </a:pPr>
            <a:r>
              <a:rPr lang="en-US" sz="1000" b="0" i="0" dirty="0">
                <a:solidFill>
                  <a:srgbClr val="9FB3C8"/>
                </a:solidFill>
                <a:latin typeface="Open Sans"/>
                <a:cs typeface="Open Sans"/>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p:cNvGrpSpPr/>
        <p:nvPr/>
      </p:nvGrpSpPr>
      <p:grpSpPr>
        <a:xfrm>
          <a:off x="0" y="0"/>
          <a:ext cx="0" cy="0"/>
          <a:chOff x="0" y="0"/>
          <a:chExt cx="0" cy="0"/>
        </a:xfrm>
      </p:grpSpPr>
      <p:sp>
        <p:nvSpPr>
          <p:cNvPr id="3" name="Text 3"/>
          <p:cNvSpPr txBox="1"/>
          <p:nvPr/>
        </p:nvSpPr>
        <p:spPr>
          <a:xfrm>
            <a:off x="685800" y="1463040"/>
            <a:ext cx="10789920" cy="457200"/>
          </a:xfrm>
          <a:prstGeom prst="rect">
            <a:avLst/>
          </a:prstGeom>
          <a:noFill/>
          <a:ln>
            <a:noFill/>
          </a:ln>
        </p:spPr>
        <p:txBody>
          <a:bodyPr wrap="square" lIns="73152" tIns="73152" rIns="73152" bIns="73152" anchor="t">
            <a:noAutofit/>
          </a:bodyPr>
          <a:lstStyle/>
          <a:p>
            <a:pPr algn="ctr">
              <a:buNone/>
            </a:pPr>
            <a:r>
              <a:rPr lang="en-US" sz="1600" b="1" i="0" dirty="0">
                <a:solidFill>
                  <a:srgbClr val="2DD4BF"/>
                </a:solidFill>
                <a:latin typeface="Montserrat"/>
                <a:cs typeface="Montserrat"/>
              </a:rPr>
              <a:t>LIVE DEMO</a:t>
            </a:r>
            <a:endParaRPr lang="en-US" sz="1600" dirty="0"/>
          </a:p>
        </p:txBody>
      </p:sp>
      <p:sp>
        <p:nvSpPr>
          <p:cNvPr id="4" name="Text 4"/>
          <p:cNvSpPr txBox="1"/>
          <p:nvPr/>
        </p:nvSpPr>
        <p:spPr>
          <a:xfrm>
            <a:off x="685800" y="1920240"/>
            <a:ext cx="10789920" cy="1097280"/>
          </a:xfrm>
          <a:prstGeom prst="rect">
            <a:avLst/>
          </a:prstGeom>
          <a:noFill/>
          <a:ln>
            <a:noFill/>
          </a:ln>
        </p:spPr>
        <p:txBody>
          <a:bodyPr wrap="square" lIns="73152" tIns="73152" rIns="73152" bIns="73152" anchor="t">
            <a:noAutofit/>
          </a:bodyPr>
          <a:lstStyle/>
          <a:p>
            <a:pPr algn="ctr">
              <a:buNone/>
            </a:pPr>
            <a:r>
              <a:rPr lang="en-US" sz="4800" b="1" i="0" dirty="0">
                <a:solidFill>
                  <a:srgbClr val="E6EDF3"/>
                </a:solidFill>
                <a:latin typeface="Montserrat"/>
                <a:cs typeface="Montserrat"/>
              </a:rPr>
              <a:t>See it working</a:t>
            </a:r>
            <a:endParaRPr lang="en-US" sz="4800" dirty="0"/>
          </a:p>
        </p:txBody>
      </p:sp>
      <p:sp>
        <p:nvSpPr>
          <p:cNvPr id="5" name="Text 5"/>
          <p:cNvSpPr txBox="1"/>
          <p:nvPr/>
        </p:nvSpPr>
        <p:spPr>
          <a:xfrm>
            <a:off x="2651760" y="3291840"/>
            <a:ext cx="6858000" cy="1463040"/>
          </a:xfrm>
          <a:prstGeom prst="roundRect">
            <a:avLst>
              <a:gd name="adj" fmla="val 8000"/>
            </a:avLst>
          </a:prstGeom>
          <a:solidFill>
            <a:srgbClr val="151C26"/>
          </a:solidFill>
          <a:ln w="15875">
            <a:solidFill>
              <a:srgbClr val="23414A"/>
            </a:solidFill>
          </a:ln>
        </p:spPr>
        <p:txBody>
          <a:bodyPr wrap="square" lIns="73152" tIns="73152" rIns="73152" bIns="73152" anchor="ctr">
            <a:noAutofit/>
          </a:bodyPr>
          <a:lstStyle/>
          <a:p>
            <a:pPr algn="ctr">
              <a:buNone/>
            </a:pPr>
            <a:r>
              <a:rPr lang="en-US" sz="2200" b="1" i="0" dirty="0">
                <a:solidFill>
                  <a:srgbClr val="2DD4BF"/>
                </a:solidFill>
                <a:latin typeface="Open Sans"/>
                <a:cs typeface="Open Sans"/>
              </a:rPr>
              <a:t>hackachusetts-datamon.streamlit.app</a:t>
            </a:r>
            <a:endParaRPr lang="en-US" sz="2200" dirty="0"/>
          </a:p>
          <a:p>
            <a:pPr algn="ctr">
              <a:spcBef>
                <a:spcPts val="1000"/>
              </a:spcBef>
              <a:buNone/>
            </a:pPr>
            <a:r>
              <a:rPr lang="en-US" sz="1800" b="0" i="0" dirty="0">
                <a:solidFill>
                  <a:srgbClr val="E6EDF3"/>
                </a:solidFill>
                <a:latin typeface="Open Sans"/>
                <a:cs typeface="Open Sans"/>
              </a:rPr>
              <a:t>Sign in:  judge  /  Hello World!</a:t>
            </a:r>
            <a:endParaRPr lang="en-US" sz="1800" dirty="0"/>
          </a:p>
        </p:txBody>
      </p:sp>
      <p:sp>
        <p:nvSpPr>
          <p:cNvPr id="6" name="Text 6"/>
          <p:cNvSpPr txBox="1"/>
          <p:nvPr/>
        </p:nvSpPr>
        <p:spPr>
          <a:xfrm>
            <a:off x="685800" y="5120640"/>
            <a:ext cx="10789920" cy="548640"/>
          </a:xfrm>
          <a:prstGeom prst="rect">
            <a:avLst/>
          </a:prstGeom>
          <a:noFill/>
          <a:ln>
            <a:noFill/>
          </a:ln>
        </p:spPr>
        <p:txBody>
          <a:bodyPr wrap="square" lIns="73152" tIns="73152" rIns="73152" bIns="73152" anchor="t">
            <a:noAutofit/>
          </a:bodyPr>
          <a:lstStyle/>
          <a:p>
            <a:pPr algn="ctr">
              <a:buNone/>
            </a:pPr>
            <a:r>
              <a:rPr lang="en-US" sz="1500" b="0" i="0" dirty="0">
                <a:solidFill>
                  <a:srgbClr val="9FB3C8"/>
                </a:solidFill>
                <a:latin typeface="Open Sans"/>
                <a:cs typeface="Open Sans"/>
              </a:rPr>
              <a:t>Real public data: 100 DROID recordings and a BridgeData V2 sample, in the open LeRobot format.</a:t>
            </a:r>
            <a:endParaRPr lang="en-US" sz="1500" dirty="0"/>
          </a:p>
        </p:txBody>
      </p:sp>
      <p:sp>
        <p:nvSpPr>
          <p:cNvPr id="7" name="Shape 7"/>
          <p:cNvSpPr/>
          <p:nvPr/>
        </p:nvSpPr>
        <p:spPr>
          <a:xfrm>
            <a:off x="685800" y="6419088"/>
            <a:ext cx="502920" cy="45720"/>
          </a:xfrm>
          <a:prstGeom prst="rect">
            <a:avLst/>
          </a:prstGeom>
          <a:solidFill>
            <a:srgbClr val="2DD4BF"/>
          </a:solidFill>
          <a:ln>
            <a:noFill/>
          </a:ln>
        </p:spPr>
        <p:txBody>
          <a:bodyPr/>
          <a:lstStyle/>
          <a:p>
            <a:endParaRPr lang="en-US"/>
          </a:p>
        </p:txBody>
      </p:sp>
      <p:sp>
        <p:nvSpPr>
          <p:cNvPr id="8" name="Text 8"/>
          <p:cNvSpPr txBox="1"/>
          <p:nvPr/>
        </p:nvSpPr>
        <p:spPr>
          <a:xfrm>
            <a:off x="1280160" y="6272784"/>
            <a:ext cx="5486400" cy="320040"/>
          </a:xfrm>
          <a:prstGeom prst="rect">
            <a:avLst/>
          </a:prstGeom>
          <a:noFill/>
          <a:ln>
            <a:noFill/>
          </a:ln>
        </p:spPr>
        <p:txBody>
          <a:bodyPr wrap="square" lIns="73152" tIns="73152" rIns="73152" bIns="73152" anchor="t">
            <a:noAutofit/>
          </a:bodyPr>
          <a:lstStyle/>
          <a:p>
            <a:pPr algn="l">
              <a:buNone/>
            </a:pPr>
            <a:r>
              <a:rPr lang="en-US" sz="1000" b="0" i="0" dirty="0">
                <a:solidFill>
                  <a:srgbClr val="9FB3C8"/>
                </a:solidFill>
                <a:latin typeface="Open Sans"/>
                <a:cs typeface="Open Sans"/>
              </a:rPr>
              <a:t>DataMon  ·  Hackachusetts  ·  Robotics &amp; Hardware</a:t>
            </a:r>
            <a:endParaRPr lang="en-US" sz="1000" dirty="0"/>
          </a:p>
        </p:txBody>
      </p:sp>
      <p:sp>
        <p:nvSpPr>
          <p:cNvPr id="9" name="Text 9"/>
          <p:cNvSpPr txBox="1"/>
          <p:nvPr/>
        </p:nvSpPr>
        <p:spPr>
          <a:xfrm>
            <a:off x="10607040" y="6272784"/>
            <a:ext cx="914400" cy="320040"/>
          </a:xfrm>
          <a:prstGeom prst="rect">
            <a:avLst/>
          </a:prstGeom>
          <a:noFill/>
          <a:ln>
            <a:noFill/>
          </a:ln>
        </p:spPr>
        <p:txBody>
          <a:bodyPr wrap="square" lIns="73152" tIns="73152" rIns="73152" bIns="73152" anchor="t">
            <a:noAutofit/>
          </a:bodyPr>
          <a:lstStyle/>
          <a:p>
            <a:pPr algn="r">
              <a:buNone/>
            </a:pPr>
            <a:r>
              <a:rPr lang="en-US" sz="1000" b="0" i="0" dirty="0">
                <a:solidFill>
                  <a:srgbClr val="9FB3C8"/>
                </a:solidFill>
                <a:latin typeface="Open Sans"/>
                <a:cs typeface="Open Sans"/>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p:cNvGrpSpPr/>
        <p:nvPr/>
      </p:nvGrpSpPr>
      <p:grpSpPr>
        <a:xfrm>
          <a:off x="0" y="0"/>
          <a:ext cx="0" cy="0"/>
          <a:chOff x="0" y="0"/>
          <a:chExt cx="0" cy="0"/>
        </a:xfrm>
      </p:grpSpPr>
      <p:sp>
        <p:nvSpPr>
          <p:cNvPr id="3" name="Text 3"/>
          <p:cNvSpPr txBox="1"/>
          <p:nvPr/>
        </p:nvSpPr>
        <p:spPr>
          <a:xfrm>
            <a:off x="685800" y="502920"/>
            <a:ext cx="10789920" cy="365760"/>
          </a:xfrm>
          <a:prstGeom prst="rect">
            <a:avLst/>
          </a:prstGeom>
          <a:noFill/>
          <a:ln>
            <a:noFill/>
          </a:ln>
        </p:spPr>
        <p:txBody>
          <a:bodyPr wrap="square" lIns="73152" tIns="73152" rIns="73152" bIns="73152" anchor="t">
            <a:noAutofit/>
          </a:bodyPr>
          <a:lstStyle/>
          <a:p>
            <a:pPr algn="l">
              <a:buNone/>
            </a:pPr>
            <a:r>
              <a:rPr lang="en-US" sz="1300" b="1" i="0" dirty="0">
                <a:solidFill>
                  <a:srgbClr val="2DD4BF"/>
                </a:solidFill>
                <a:latin typeface="Montserrat"/>
                <a:cs typeface="Montserrat"/>
              </a:rPr>
              <a:t>BUILT FOR EVERYONE</a:t>
            </a:r>
            <a:endParaRPr lang="en-US" sz="1300" dirty="0"/>
          </a:p>
        </p:txBody>
      </p:sp>
      <p:sp>
        <p:nvSpPr>
          <p:cNvPr id="4" name="Text 4"/>
          <p:cNvSpPr txBox="1"/>
          <p:nvPr/>
        </p:nvSpPr>
        <p:spPr>
          <a:xfrm>
            <a:off x="685800" y="850392"/>
            <a:ext cx="10789920" cy="914400"/>
          </a:xfrm>
          <a:prstGeom prst="rect">
            <a:avLst/>
          </a:prstGeom>
          <a:noFill/>
          <a:ln>
            <a:noFill/>
          </a:ln>
        </p:spPr>
        <p:txBody>
          <a:bodyPr wrap="square" lIns="73152" tIns="73152" rIns="73152" bIns="73152" anchor="t">
            <a:noAutofit/>
          </a:bodyPr>
          <a:lstStyle/>
          <a:p>
            <a:pPr algn="l">
              <a:buNone/>
            </a:pPr>
            <a:r>
              <a:rPr lang="en-US" sz="3400" b="1" i="0" dirty="0">
                <a:solidFill>
                  <a:srgbClr val="E6EDF3"/>
                </a:solidFill>
                <a:latin typeface="Montserrat"/>
                <a:cs typeface="Montserrat"/>
              </a:rPr>
              <a:t>Accessible, and fun to use</a:t>
            </a:r>
            <a:endParaRPr lang="en-US" sz="3400" dirty="0"/>
          </a:p>
        </p:txBody>
      </p:sp>
      <p:sp>
        <p:nvSpPr>
          <p:cNvPr id="5" name="Text 5"/>
          <p:cNvSpPr txBox="1"/>
          <p:nvPr/>
        </p:nvSpPr>
        <p:spPr>
          <a:xfrm>
            <a:off x="685800" y="1783080"/>
            <a:ext cx="5760720" cy="411480"/>
          </a:xfrm>
          <a:prstGeom prst="rect">
            <a:avLst/>
          </a:prstGeom>
          <a:noFill/>
          <a:ln>
            <a:noFill/>
          </a:ln>
        </p:spPr>
        <p:txBody>
          <a:bodyPr wrap="square" lIns="73152" tIns="73152" rIns="73152" bIns="73152" anchor="t">
            <a:noAutofit/>
          </a:bodyPr>
          <a:lstStyle/>
          <a:p>
            <a:pPr algn="l">
              <a:buNone/>
            </a:pPr>
            <a:r>
              <a:rPr lang="en-US" sz="1800" b="1" i="0" dirty="0">
                <a:solidFill>
                  <a:srgbClr val="2DD4BF"/>
                </a:solidFill>
                <a:latin typeface="Montserrat"/>
                <a:cs typeface="Montserrat"/>
              </a:rPr>
              <a:t>Narrated guided tour</a:t>
            </a:r>
            <a:endParaRPr lang="en-US" sz="1800" dirty="0"/>
          </a:p>
        </p:txBody>
      </p:sp>
      <p:sp>
        <p:nvSpPr>
          <p:cNvPr id="6" name="Text 6"/>
          <p:cNvSpPr txBox="1"/>
          <p:nvPr/>
        </p:nvSpPr>
        <p:spPr>
          <a:xfrm>
            <a:off x="685800" y="2167128"/>
            <a:ext cx="5760720" cy="640080"/>
          </a:xfrm>
          <a:prstGeom prst="rect">
            <a:avLst/>
          </a:prstGeom>
          <a:noFill/>
          <a:ln>
            <a:noFill/>
          </a:ln>
        </p:spPr>
        <p:txBody>
          <a:bodyPr wrap="square" lIns="73152" tIns="73152" rIns="73152" bIns="73152" anchor="t">
            <a:noAutofit/>
          </a:bodyPr>
          <a:lstStyle/>
          <a:p>
            <a:pPr algn="l">
              <a:buNone/>
            </a:pPr>
            <a:r>
              <a:rPr lang="en-US" sz="1350" b="0" i="0" dirty="0">
                <a:solidFill>
                  <a:srgbClr val="E6EDF3"/>
                </a:solidFill>
                <a:latin typeface="Open Sans"/>
                <a:cs typeface="Open Sans"/>
              </a:rPr>
              <a:t>11 steps. Voice, captions and a pointing arrow, so it works with or without sound.</a:t>
            </a:r>
            <a:endParaRPr lang="en-US" sz="1350" dirty="0"/>
          </a:p>
        </p:txBody>
      </p:sp>
      <p:sp>
        <p:nvSpPr>
          <p:cNvPr id="7" name="Text 7"/>
          <p:cNvSpPr txBox="1"/>
          <p:nvPr/>
        </p:nvSpPr>
        <p:spPr>
          <a:xfrm>
            <a:off x="685800" y="2862072"/>
            <a:ext cx="5760720" cy="411480"/>
          </a:xfrm>
          <a:prstGeom prst="rect">
            <a:avLst/>
          </a:prstGeom>
          <a:noFill/>
          <a:ln>
            <a:noFill/>
          </a:ln>
        </p:spPr>
        <p:txBody>
          <a:bodyPr wrap="square" lIns="73152" tIns="73152" rIns="73152" bIns="73152" anchor="t">
            <a:noAutofit/>
          </a:bodyPr>
          <a:lstStyle/>
          <a:p>
            <a:pPr algn="l">
              <a:buNone/>
            </a:pPr>
            <a:r>
              <a:rPr lang="en-US" sz="1800" b="1" i="0" dirty="0">
                <a:solidFill>
                  <a:srgbClr val="2DD4BF"/>
                </a:solidFill>
                <a:latin typeface="Montserrat"/>
                <a:cs typeface="Montserrat"/>
              </a:rPr>
              <a:t>Grounded help assistant</a:t>
            </a:r>
            <a:endParaRPr lang="en-US" sz="1800" dirty="0"/>
          </a:p>
        </p:txBody>
      </p:sp>
      <p:sp>
        <p:nvSpPr>
          <p:cNvPr id="8" name="Text 8"/>
          <p:cNvSpPr txBox="1"/>
          <p:nvPr/>
        </p:nvSpPr>
        <p:spPr>
          <a:xfrm>
            <a:off x="685800" y="3246120"/>
            <a:ext cx="5760720" cy="640080"/>
          </a:xfrm>
          <a:prstGeom prst="rect">
            <a:avLst/>
          </a:prstGeom>
          <a:noFill/>
          <a:ln>
            <a:noFill/>
          </a:ln>
        </p:spPr>
        <p:txBody>
          <a:bodyPr wrap="square" lIns="73152" tIns="73152" rIns="73152" bIns="73152" anchor="t">
            <a:noAutofit/>
          </a:bodyPr>
          <a:lstStyle/>
          <a:p>
            <a:pPr algn="l">
              <a:buNone/>
            </a:pPr>
            <a:r>
              <a:rPr lang="en-US" sz="1350" b="0" i="0" dirty="0">
                <a:solidFill>
                  <a:srgbClr val="E6EDF3"/>
                </a:solidFill>
                <a:latin typeface="Open Sans"/>
                <a:cs typeface="Open Sans"/>
              </a:rPr>
              <a:t>Answers only from DataMon's own docs, so it never invents an answer.</a:t>
            </a:r>
            <a:endParaRPr lang="en-US" sz="1350" dirty="0"/>
          </a:p>
        </p:txBody>
      </p:sp>
      <p:sp>
        <p:nvSpPr>
          <p:cNvPr id="9" name="Text 9"/>
          <p:cNvSpPr txBox="1"/>
          <p:nvPr/>
        </p:nvSpPr>
        <p:spPr>
          <a:xfrm>
            <a:off x="685800" y="3941064"/>
            <a:ext cx="5760720" cy="411480"/>
          </a:xfrm>
          <a:prstGeom prst="rect">
            <a:avLst/>
          </a:prstGeom>
          <a:noFill/>
          <a:ln>
            <a:noFill/>
          </a:ln>
        </p:spPr>
        <p:txBody>
          <a:bodyPr wrap="square" lIns="73152" tIns="73152" rIns="73152" bIns="73152" anchor="t">
            <a:noAutofit/>
          </a:bodyPr>
          <a:lstStyle/>
          <a:p>
            <a:pPr algn="l">
              <a:buNone/>
            </a:pPr>
            <a:r>
              <a:rPr lang="en-US" sz="1800" b="1" i="0" dirty="0">
                <a:solidFill>
                  <a:srgbClr val="2DD4BF"/>
                </a:solidFill>
                <a:latin typeface="Montserrat"/>
                <a:cs typeface="Montserrat"/>
              </a:rPr>
              <a:t>See it and hear it</a:t>
            </a:r>
            <a:endParaRPr lang="en-US" sz="1800" dirty="0"/>
          </a:p>
        </p:txBody>
      </p:sp>
      <p:sp>
        <p:nvSpPr>
          <p:cNvPr id="10" name="Text 10"/>
          <p:cNvSpPr txBox="1"/>
          <p:nvPr/>
        </p:nvSpPr>
        <p:spPr>
          <a:xfrm>
            <a:off x="685800" y="4325112"/>
            <a:ext cx="5760720" cy="640080"/>
          </a:xfrm>
          <a:prstGeom prst="rect">
            <a:avLst/>
          </a:prstGeom>
          <a:noFill/>
          <a:ln>
            <a:noFill/>
          </a:ln>
        </p:spPr>
        <p:txBody>
          <a:bodyPr wrap="square" lIns="73152" tIns="73152" rIns="73152" bIns="73152" anchor="t">
            <a:noAutofit/>
          </a:bodyPr>
          <a:lstStyle/>
          <a:p>
            <a:pPr algn="l">
              <a:buNone/>
            </a:pPr>
            <a:r>
              <a:rPr lang="en-US" sz="1350" b="0" i="0" dirty="0">
                <a:solidFill>
                  <a:srgbClr val="E6EDF3"/>
                </a:solidFill>
                <a:latin typeface="Open Sans"/>
                <a:cs typeface="Open Sans"/>
              </a:rPr>
              <a:t>Rejections show a colour-coded verdict and play an alert sound.</a:t>
            </a:r>
            <a:endParaRPr lang="en-US" sz="1350" dirty="0"/>
          </a:p>
        </p:txBody>
      </p:sp>
      <p:sp>
        <p:nvSpPr>
          <p:cNvPr id="11" name="Text 11"/>
          <p:cNvSpPr txBox="1"/>
          <p:nvPr/>
        </p:nvSpPr>
        <p:spPr>
          <a:xfrm>
            <a:off x="685800" y="5020056"/>
            <a:ext cx="5760720" cy="411480"/>
          </a:xfrm>
          <a:prstGeom prst="rect">
            <a:avLst/>
          </a:prstGeom>
          <a:noFill/>
          <a:ln>
            <a:noFill/>
          </a:ln>
        </p:spPr>
        <p:txBody>
          <a:bodyPr wrap="square" lIns="73152" tIns="73152" rIns="73152" bIns="73152" anchor="t">
            <a:noAutofit/>
          </a:bodyPr>
          <a:lstStyle/>
          <a:p>
            <a:pPr algn="l">
              <a:buNone/>
            </a:pPr>
            <a:r>
              <a:rPr lang="en-US" sz="1800" b="1" i="0" dirty="0">
                <a:solidFill>
                  <a:srgbClr val="2DD4BF"/>
                </a:solidFill>
                <a:latin typeface="Montserrat"/>
                <a:cs typeface="Montserrat"/>
              </a:rPr>
              <a:t>Reduced motion</a:t>
            </a:r>
            <a:endParaRPr lang="en-US" sz="1800" dirty="0"/>
          </a:p>
        </p:txBody>
      </p:sp>
      <p:sp>
        <p:nvSpPr>
          <p:cNvPr id="12" name="Text 12"/>
          <p:cNvSpPr txBox="1"/>
          <p:nvPr/>
        </p:nvSpPr>
        <p:spPr>
          <a:xfrm>
            <a:off x="685800" y="5404104"/>
            <a:ext cx="5760720" cy="640080"/>
          </a:xfrm>
          <a:prstGeom prst="rect">
            <a:avLst/>
          </a:prstGeom>
          <a:noFill/>
          <a:ln>
            <a:noFill/>
          </a:ln>
        </p:spPr>
        <p:txBody>
          <a:bodyPr wrap="square" lIns="73152" tIns="73152" rIns="73152" bIns="73152" anchor="t">
            <a:noAutofit/>
          </a:bodyPr>
          <a:lstStyle/>
          <a:p>
            <a:pPr algn="l">
              <a:buNone/>
            </a:pPr>
            <a:r>
              <a:rPr lang="en-US" sz="1350" b="0" i="0" dirty="0">
                <a:solidFill>
                  <a:srgbClr val="E6EDF3"/>
                </a:solidFill>
                <a:latin typeface="Open Sans"/>
                <a:cs typeface="Open Sans"/>
              </a:rPr>
              <a:t>Every animation switches off for people who turn off motion in their system settings.</a:t>
            </a:r>
            <a:endParaRPr lang="en-US" sz="1350" dirty="0"/>
          </a:p>
        </p:txBody>
      </p:sp>
      <p:pic>
        <p:nvPicPr>
          <p:cNvPr id="13" name="loader.png"/>
          <p:cNvPicPr>
            <a:picLocks noChangeAspect="1"/>
          </p:cNvPicPr>
          <p:nvPr/>
        </p:nvPicPr>
        <p:blipFill>
          <a:blip r:embed="rId3"/>
          <a:stretch>
            <a:fillRect/>
          </a:stretch>
        </p:blipFill>
        <p:spPr>
          <a:xfrm>
            <a:off x="6720840" y="1783080"/>
            <a:ext cx="4800600" cy="3054927"/>
          </a:xfrm>
          <a:prstGeom prst="rect">
            <a:avLst/>
          </a:prstGeom>
        </p:spPr>
      </p:pic>
      <p:sp>
        <p:nvSpPr>
          <p:cNvPr id="14" name="Text 14"/>
          <p:cNvSpPr txBox="1"/>
          <p:nvPr/>
        </p:nvSpPr>
        <p:spPr>
          <a:xfrm>
            <a:off x="6720840" y="4892040"/>
            <a:ext cx="4800600" cy="822960"/>
          </a:xfrm>
          <a:prstGeom prst="rect">
            <a:avLst/>
          </a:prstGeom>
          <a:noFill/>
          <a:ln>
            <a:noFill/>
          </a:ln>
        </p:spPr>
        <p:txBody>
          <a:bodyPr wrap="square" lIns="73152" tIns="73152" rIns="73152" bIns="73152" anchor="t">
            <a:noAutofit/>
          </a:bodyPr>
          <a:lstStyle/>
          <a:p>
            <a:pPr algn="l">
              <a:buNone/>
            </a:pPr>
            <a:r>
              <a:rPr lang="en-US" sz="1200" b="0" i="1" dirty="0">
                <a:solidFill>
                  <a:srgbClr val="9FB3C8"/>
                </a:solidFill>
                <a:latin typeface="Open Sans"/>
                <a:cs typeface="Open Sans"/>
              </a:rPr>
              <a:t>The loading screen does real work (it loads and scores the data) and passes the time with robotics jokes and fun facts.</a:t>
            </a:r>
            <a:endParaRPr lang="en-US" sz="1200" dirty="0"/>
          </a:p>
        </p:txBody>
      </p:sp>
      <p:sp>
        <p:nvSpPr>
          <p:cNvPr id="15" name="Shape 15"/>
          <p:cNvSpPr/>
          <p:nvPr/>
        </p:nvSpPr>
        <p:spPr>
          <a:xfrm>
            <a:off x="685800" y="6419088"/>
            <a:ext cx="502920" cy="45720"/>
          </a:xfrm>
          <a:prstGeom prst="rect">
            <a:avLst/>
          </a:prstGeom>
          <a:solidFill>
            <a:srgbClr val="2DD4BF"/>
          </a:solidFill>
          <a:ln>
            <a:noFill/>
          </a:ln>
        </p:spPr>
        <p:txBody>
          <a:bodyPr/>
          <a:lstStyle/>
          <a:p>
            <a:endParaRPr lang="en-US"/>
          </a:p>
        </p:txBody>
      </p:sp>
      <p:sp>
        <p:nvSpPr>
          <p:cNvPr id="16" name="Text 16"/>
          <p:cNvSpPr txBox="1"/>
          <p:nvPr/>
        </p:nvSpPr>
        <p:spPr>
          <a:xfrm>
            <a:off x="1280160" y="6272784"/>
            <a:ext cx="5486400" cy="320040"/>
          </a:xfrm>
          <a:prstGeom prst="rect">
            <a:avLst/>
          </a:prstGeom>
          <a:noFill/>
          <a:ln>
            <a:noFill/>
          </a:ln>
        </p:spPr>
        <p:txBody>
          <a:bodyPr wrap="square" lIns="73152" tIns="73152" rIns="73152" bIns="73152" anchor="t">
            <a:noAutofit/>
          </a:bodyPr>
          <a:lstStyle/>
          <a:p>
            <a:pPr algn="l">
              <a:buNone/>
            </a:pPr>
            <a:r>
              <a:rPr lang="en-US" sz="1000" b="0" i="0" dirty="0">
                <a:solidFill>
                  <a:srgbClr val="9FB3C8"/>
                </a:solidFill>
                <a:latin typeface="Open Sans"/>
                <a:cs typeface="Open Sans"/>
              </a:rPr>
              <a:t>DataMon  ·  Hackachusetts  ·  Robotics &amp; Hardware</a:t>
            </a:r>
            <a:endParaRPr lang="en-US" sz="1000" dirty="0"/>
          </a:p>
        </p:txBody>
      </p:sp>
      <p:sp>
        <p:nvSpPr>
          <p:cNvPr id="17" name="Text 17"/>
          <p:cNvSpPr txBox="1"/>
          <p:nvPr/>
        </p:nvSpPr>
        <p:spPr>
          <a:xfrm>
            <a:off x="10607040" y="6272784"/>
            <a:ext cx="914400" cy="320040"/>
          </a:xfrm>
          <a:prstGeom prst="rect">
            <a:avLst/>
          </a:prstGeom>
          <a:noFill/>
          <a:ln>
            <a:noFill/>
          </a:ln>
        </p:spPr>
        <p:txBody>
          <a:bodyPr wrap="square" lIns="73152" tIns="73152" rIns="73152" bIns="73152" anchor="t">
            <a:noAutofit/>
          </a:bodyPr>
          <a:lstStyle/>
          <a:p>
            <a:pPr algn="r">
              <a:buNone/>
            </a:pPr>
            <a:r>
              <a:rPr lang="en-US" sz="1000" b="0" i="0" dirty="0">
                <a:solidFill>
                  <a:srgbClr val="9FB3C8"/>
                </a:solidFill>
                <a:latin typeface="Open Sans"/>
                <a:cs typeface="Open Sans"/>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p:cNvGrpSpPr/>
        <p:nvPr/>
      </p:nvGrpSpPr>
      <p:grpSpPr>
        <a:xfrm>
          <a:off x="0" y="0"/>
          <a:ext cx="0" cy="0"/>
          <a:chOff x="0" y="0"/>
          <a:chExt cx="0" cy="0"/>
        </a:xfrm>
      </p:grpSpPr>
      <p:sp>
        <p:nvSpPr>
          <p:cNvPr id="3" name="Text 3"/>
          <p:cNvSpPr txBox="1"/>
          <p:nvPr/>
        </p:nvSpPr>
        <p:spPr>
          <a:xfrm>
            <a:off x="685800" y="502920"/>
            <a:ext cx="10789920" cy="365760"/>
          </a:xfrm>
          <a:prstGeom prst="rect">
            <a:avLst/>
          </a:prstGeom>
          <a:noFill/>
          <a:ln>
            <a:noFill/>
          </a:ln>
        </p:spPr>
        <p:txBody>
          <a:bodyPr wrap="square" lIns="73152" tIns="73152" rIns="73152" bIns="73152" anchor="t">
            <a:noAutofit/>
          </a:bodyPr>
          <a:lstStyle/>
          <a:p>
            <a:pPr algn="l">
              <a:buNone/>
            </a:pPr>
            <a:r>
              <a:rPr lang="en-US" sz="1300" b="1" i="0" dirty="0">
                <a:solidFill>
                  <a:srgbClr val="2DD4BF"/>
                </a:solidFill>
                <a:latin typeface="Montserrat"/>
                <a:cs typeface="Montserrat"/>
              </a:rPr>
              <a:t>IMPLEMENTATION</a:t>
            </a:r>
            <a:endParaRPr lang="en-US" sz="1300" dirty="0"/>
          </a:p>
        </p:txBody>
      </p:sp>
      <p:sp>
        <p:nvSpPr>
          <p:cNvPr id="4" name="Text 4"/>
          <p:cNvSpPr txBox="1"/>
          <p:nvPr/>
        </p:nvSpPr>
        <p:spPr>
          <a:xfrm>
            <a:off x="685800" y="850392"/>
            <a:ext cx="10789920" cy="914400"/>
          </a:xfrm>
          <a:prstGeom prst="rect">
            <a:avLst/>
          </a:prstGeom>
          <a:noFill/>
          <a:ln>
            <a:noFill/>
          </a:ln>
        </p:spPr>
        <p:txBody>
          <a:bodyPr wrap="square" lIns="73152" tIns="73152" rIns="73152" bIns="73152" anchor="t">
            <a:noAutofit/>
          </a:bodyPr>
          <a:lstStyle/>
          <a:p>
            <a:pPr algn="l">
              <a:buNone/>
            </a:pPr>
            <a:r>
              <a:rPr lang="en-US" sz="3400" b="1" i="0" dirty="0">
                <a:solidFill>
                  <a:srgbClr val="E6EDF3"/>
                </a:solidFill>
                <a:latin typeface="Montserrat"/>
                <a:cs typeface="Montserrat"/>
              </a:rPr>
              <a:t>How we used Kiro</a:t>
            </a:r>
            <a:endParaRPr lang="en-US" sz="3400" dirty="0"/>
          </a:p>
        </p:txBody>
      </p:sp>
      <p:sp>
        <p:nvSpPr>
          <p:cNvPr id="5" name="Shape 5"/>
          <p:cNvSpPr/>
          <p:nvPr/>
        </p:nvSpPr>
        <p:spPr>
          <a:xfrm>
            <a:off x="685800" y="1783080"/>
            <a:ext cx="5257800" cy="2011680"/>
          </a:xfrm>
          <a:prstGeom prst="roundRect">
            <a:avLst>
              <a:gd name="adj" fmla="val 10000"/>
            </a:avLst>
          </a:prstGeom>
          <a:solidFill>
            <a:srgbClr val="151C26"/>
          </a:solidFill>
          <a:ln w="15875">
            <a:solidFill>
              <a:srgbClr val="23414A"/>
            </a:solidFill>
          </a:ln>
        </p:spPr>
        <p:txBody>
          <a:bodyPr/>
          <a:lstStyle/>
          <a:p>
            <a:endParaRPr lang="en-US"/>
          </a:p>
        </p:txBody>
      </p:sp>
      <p:sp>
        <p:nvSpPr>
          <p:cNvPr id="6" name="Text 6"/>
          <p:cNvSpPr txBox="1"/>
          <p:nvPr/>
        </p:nvSpPr>
        <p:spPr>
          <a:xfrm>
            <a:off x="914400" y="1874520"/>
            <a:ext cx="4846320" cy="457200"/>
          </a:xfrm>
          <a:prstGeom prst="rect">
            <a:avLst/>
          </a:prstGeom>
          <a:noFill/>
          <a:ln>
            <a:noFill/>
          </a:ln>
        </p:spPr>
        <p:txBody>
          <a:bodyPr wrap="square" lIns="73152" tIns="73152" rIns="73152" bIns="73152" anchor="t">
            <a:noAutofit/>
          </a:bodyPr>
          <a:lstStyle/>
          <a:p>
            <a:pPr algn="l">
              <a:buNone/>
            </a:pPr>
            <a:r>
              <a:rPr lang="en-US" sz="1800" b="1" i="0" dirty="0">
                <a:solidFill>
                  <a:srgbClr val="2DD4BF"/>
                </a:solidFill>
                <a:latin typeface="Montserrat"/>
                <a:cs typeface="Montserrat"/>
              </a:rPr>
              <a:t>Kiro Crew  ·  local laptop</a:t>
            </a:r>
            <a:endParaRPr lang="en-US" sz="1800" dirty="0"/>
          </a:p>
        </p:txBody>
      </p:sp>
      <p:sp>
        <p:nvSpPr>
          <p:cNvPr id="7" name="Text 7"/>
          <p:cNvSpPr txBox="1"/>
          <p:nvPr/>
        </p:nvSpPr>
        <p:spPr>
          <a:xfrm>
            <a:off x="914400" y="2331720"/>
            <a:ext cx="4846320" cy="1737360"/>
          </a:xfrm>
          <a:prstGeom prst="rect">
            <a:avLst/>
          </a:prstGeom>
          <a:noFill/>
          <a:ln>
            <a:noFill/>
          </a:ln>
        </p:spPr>
        <p:txBody>
          <a:bodyPr wrap="square" lIns="73152" tIns="73152" rIns="73152" bIns="73152" anchor="t">
            <a:noAutofit/>
          </a:bodyPr>
          <a:lstStyle/>
          <a:p>
            <a:pPr algn="l" marL="285750" indent="-285750">
              <a:buClr>
                <a:srgbClr val="2DD4BF"/>
              </a:buClr>
              <a:buFont typeface="Arial"/>
              <a:buChar char="•"/>
            </a:pPr>
            <a:r>
              <a:rPr lang="en-US" sz="1350" b="0" i="0" dirty="0">
                <a:solidFill>
                  <a:srgbClr val="E6EDF3"/>
                </a:solidFill>
                <a:latin typeface="Open Sans"/>
                <a:cs typeface="Open Sans"/>
              </a:rPr>
              <a:t>Set up Python and the virtual environment</a:t>
            </a:r>
            <a:endParaRPr lang="en-US" sz="1350" dirty="0"/>
          </a:p>
          <a:p>
            <a:pPr algn="l" marL="285750" indent="-285750">
              <a:spcBef>
                <a:spcPts val="400"/>
              </a:spcBef>
              <a:buClr>
                <a:srgbClr val="2DD4BF"/>
              </a:buClr>
              <a:buFont typeface="Arial"/>
              <a:buChar char="•"/>
            </a:pPr>
            <a:r>
              <a:rPr lang="en-US" sz="1350" b="0" i="0" dirty="0">
                <a:solidFill>
                  <a:srgbClr val="E6EDF3"/>
                </a:solidFill>
                <a:latin typeface="Open Sans"/>
                <a:cs typeface="Open Sans"/>
              </a:rPr>
              <a:t>Ran the app and the tests on the real machine</a:t>
            </a:r>
            <a:endParaRPr lang="en-US" sz="1350" dirty="0"/>
          </a:p>
          <a:p>
            <a:pPr algn="l" marL="285750" indent="-285750">
              <a:spcBef>
                <a:spcPts val="400"/>
              </a:spcBef>
              <a:buClr>
                <a:srgbClr val="2DD4BF"/>
              </a:buClr>
              <a:buFont typeface="Arial"/>
              <a:buChar char="•"/>
            </a:pPr>
            <a:r>
              <a:rPr lang="en-US" sz="1350" b="0" i="0" dirty="0">
                <a:solidFill>
                  <a:srgbClr val="E6EDF3"/>
                </a:solidFill>
                <a:latin typeface="Open Sans"/>
                <a:cs typeface="Open Sans"/>
              </a:rPr>
              <a:t>Shipped every feature as its own branch, pull request and merge</a:t>
            </a:r>
            <a:endParaRPr lang="en-US" sz="1350" dirty="0"/>
          </a:p>
        </p:txBody>
      </p:sp>
      <p:sp>
        <p:nvSpPr>
          <p:cNvPr id="8" name="Shape 8"/>
          <p:cNvSpPr/>
          <p:nvPr/>
        </p:nvSpPr>
        <p:spPr>
          <a:xfrm>
            <a:off x="6263640" y="1783080"/>
            <a:ext cx="5257800" cy="2011680"/>
          </a:xfrm>
          <a:prstGeom prst="roundRect">
            <a:avLst>
              <a:gd name="adj" fmla="val 10000"/>
            </a:avLst>
          </a:prstGeom>
          <a:solidFill>
            <a:srgbClr val="151C26"/>
          </a:solidFill>
          <a:ln w="15875">
            <a:solidFill>
              <a:srgbClr val="23414A"/>
            </a:solidFill>
          </a:ln>
        </p:spPr>
        <p:txBody>
          <a:bodyPr/>
          <a:lstStyle/>
          <a:p>
            <a:endParaRPr lang="en-US"/>
          </a:p>
        </p:txBody>
      </p:sp>
      <p:sp>
        <p:nvSpPr>
          <p:cNvPr id="9" name="Text 9"/>
          <p:cNvSpPr txBox="1"/>
          <p:nvPr/>
        </p:nvSpPr>
        <p:spPr>
          <a:xfrm>
            <a:off x="6492240" y="1874520"/>
            <a:ext cx="4846320" cy="457200"/>
          </a:xfrm>
          <a:prstGeom prst="rect">
            <a:avLst/>
          </a:prstGeom>
          <a:noFill/>
          <a:ln>
            <a:noFill/>
          </a:ln>
        </p:spPr>
        <p:txBody>
          <a:bodyPr wrap="square" lIns="73152" tIns="73152" rIns="73152" bIns="73152" anchor="t">
            <a:noAutofit/>
          </a:bodyPr>
          <a:lstStyle/>
          <a:p>
            <a:pPr algn="l">
              <a:buNone/>
            </a:pPr>
            <a:r>
              <a:rPr lang="en-US" sz="1800" b="1" i="0" dirty="0">
                <a:solidFill>
                  <a:srgbClr val="2DD4BF"/>
                </a:solidFill>
                <a:latin typeface="Montserrat"/>
                <a:cs typeface="Montserrat"/>
              </a:rPr>
              <a:t>Kiro Web  ·  cloud sandbox</a:t>
            </a:r>
            <a:endParaRPr lang="en-US" sz="1800" dirty="0"/>
          </a:p>
        </p:txBody>
      </p:sp>
      <p:sp>
        <p:nvSpPr>
          <p:cNvPr id="10" name="Text 10"/>
          <p:cNvSpPr txBox="1"/>
          <p:nvPr/>
        </p:nvSpPr>
        <p:spPr>
          <a:xfrm>
            <a:off x="6492240" y="2331720"/>
            <a:ext cx="4846320" cy="1737360"/>
          </a:xfrm>
          <a:prstGeom prst="rect">
            <a:avLst/>
          </a:prstGeom>
          <a:noFill/>
          <a:ln>
            <a:noFill/>
          </a:ln>
        </p:spPr>
        <p:txBody>
          <a:bodyPr wrap="square" lIns="73152" tIns="73152" rIns="73152" bIns="73152" anchor="t">
            <a:noAutofit/>
          </a:bodyPr>
          <a:lstStyle/>
          <a:p>
            <a:pPr algn="l" marL="285750" indent="-285750">
              <a:buClr>
                <a:srgbClr val="2DD4BF"/>
              </a:buClr>
              <a:buFont typeface="Arial"/>
              <a:buChar char="•"/>
            </a:pPr>
            <a:r>
              <a:rPr lang="en-US" sz="1350" b="0" i="0" dirty="0">
                <a:solidFill>
                  <a:srgbClr val="E6EDF3"/>
                </a:solidFill>
                <a:latin typeface="Open Sans"/>
                <a:cs typeface="Open Sans"/>
              </a:rPr>
              <a:t>No internet to install Streamlit, so it read the library's source on GitHub</a:t>
            </a:r>
            <a:endParaRPr lang="en-US" sz="1350" dirty="0"/>
          </a:p>
          <a:p>
            <a:pPr algn="l" marL="285750" indent="-285750">
              <a:spcBef>
                <a:spcPts val="400"/>
              </a:spcBef>
              <a:buClr>
                <a:srgbClr val="2DD4BF"/>
              </a:buClr>
              <a:buFont typeface="Arial"/>
              <a:buChar char="•"/>
            </a:pPr>
            <a:r>
              <a:rPr lang="en-US" sz="1350" b="0" i="0" dirty="0">
                <a:solidFill>
                  <a:srgbClr val="E6EDF3"/>
                </a:solidFill>
                <a:latin typeface="Open Sans"/>
                <a:cs typeface="Open Sans"/>
              </a:rPr>
              <a:t>Playwright power (MCP) rendered and screenshotted the UI</a:t>
            </a:r>
            <a:endParaRPr lang="en-US" sz="1350" dirty="0"/>
          </a:p>
          <a:p>
            <a:pPr algn="l" marL="285750" indent="-285750">
              <a:spcBef>
                <a:spcPts val="400"/>
              </a:spcBef>
              <a:buClr>
                <a:srgbClr val="2DD4BF"/>
              </a:buClr>
              <a:buFont typeface="Arial"/>
              <a:buChar char="•"/>
            </a:pPr>
            <a:r>
              <a:rPr lang="en-US" sz="1350" b="0" i="0" dirty="0">
                <a:solidFill>
                  <a:srgbClr val="E6EDF3"/>
                </a:solidFill>
                <a:latin typeface="Open Sans"/>
                <a:cs typeface="Open Sans"/>
              </a:rPr>
              <a:t>GitHub CI ran the full test suite on every pull request</a:t>
            </a:r>
            <a:endParaRPr lang="en-US" sz="1350" dirty="0"/>
          </a:p>
        </p:txBody>
      </p:sp>
      <p:sp>
        <p:nvSpPr>
          <p:cNvPr id="11" name="Text 11"/>
          <p:cNvSpPr txBox="1"/>
          <p:nvPr/>
        </p:nvSpPr>
        <p:spPr>
          <a:xfrm>
            <a:off x="685800" y="4160520"/>
            <a:ext cx="2560320" cy="548640"/>
          </a:xfrm>
          <a:prstGeom prst="rect">
            <a:avLst/>
          </a:prstGeom>
          <a:noFill/>
          <a:ln>
            <a:noFill/>
          </a:ln>
        </p:spPr>
        <p:txBody>
          <a:bodyPr wrap="square" lIns="73152" tIns="73152" rIns="73152" bIns="73152" anchor="t">
            <a:noAutofit/>
          </a:bodyPr>
          <a:lstStyle/>
          <a:p>
            <a:pPr algn="l">
              <a:buNone/>
            </a:pPr>
            <a:r>
              <a:rPr lang="en-US" sz="2800" b="1" i="0" dirty="0">
                <a:solidFill>
                  <a:srgbClr val="2DD4BF"/>
                </a:solidFill>
                <a:latin typeface="Montserrat"/>
                <a:cs typeface="Montserrat"/>
              </a:rPr>
              <a:t>Specs</a:t>
            </a:r>
            <a:endParaRPr lang="en-US" sz="2800" dirty="0"/>
          </a:p>
        </p:txBody>
      </p:sp>
      <p:sp>
        <p:nvSpPr>
          <p:cNvPr id="12" name="Text 12"/>
          <p:cNvSpPr txBox="1"/>
          <p:nvPr/>
        </p:nvSpPr>
        <p:spPr>
          <a:xfrm>
            <a:off x="685800" y="4709160"/>
            <a:ext cx="2560320" cy="731520"/>
          </a:xfrm>
          <a:prstGeom prst="rect">
            <a:avLst/>
          </a:prstGeom>
          <a:noFill/>
          <a:ln>
            <a:noFill/>
          </a:ln>
        </p:spPr>
        <p:txBody>
          <a:bodyPr wrap="square" lIns="73152" tIns="73152" rIns="73152" bIns="73152" anchor="t">
            <a:noAutofit/>
          </a:bodyPr>
          <a:lstStyle/>
          <a:p>
            <a:pPr algn="l">
              <a:buNone/>
            </a:pPr>
            <a:r>
              <a:rPr lang="en-US" sz="1300" b="0" i="0" dirty="0">
                <a:solidFill>
                  <a:srgbClr val="E6EDF3"/>
                </a:solidFill>
                <a:latin typeface="Open Sans"/>
                <a:cs typeface="Open Sans"/>
              </a:rPr>
              <a:t>requirements, design and tasks for core features</a:t>
            </a:r>
            <a:endParaRPr lang="en-US" sz="1300" dirty="0"/>
          </a:p>
        </p:txBody>
      </p:sp>
      <p:sp>
        <p:nvSpPr>
          <p:cNvPr id="13" name="Text 13"/>
          <p:cNvSpPr txBox="1"/>
          <p:nvPr/>
        </p:nvSpPr>
        <p:spPr>
          <a:xfrm>
            <a:off x="3429000" y="4160520"/>
            <a:ext cx="2560320" cy="548640"/>
          </a:xfrm>
          <a:prstGeom prst="rect">
            <a:avLst/>
          </a:prstGeom>
          <a:noFill/>
          <a:ln>
            <a:noFill/>
          </a:ln>
        </p:spPr>
        <p:txBody>
          <a:bodyPr wrap="square" lIns="73152" tIns="73152" rIns="73152" bIns="73152" anchor="t">
            <a:noAutofit/>
          </a:bodyPr>
          <a:lstStyle/>
          <a:p>
            <a:pPr algn="l">
              <a:buNone/>
            </a:pPr>
            <a:r>
              <a:rPr lang="en-US" sz="2800" b="1" i="0" dirty="0">
                <a:solidFill>
                  <a:srgbClr val="2DD4BF"/>
                </a:solidFill>
                <a:latin typeface="Montserrat"/>
                <a:cs typeface="Montserrat"/>
              </a:rPr>
              <a:t>Steering</a:t>
            </a:r>
            <a:endParaRPr lang="en-US" sz="2800" dirty="0"/>
          </a:p>
        </p:txBody>
      </p:sp>
      <p:sp>
        <p:nvSpPr>
          <p:cNvPr id="14" name="Text 14"/>
          <p:cNvSpPr txBox="1"/>
          <p:nvPr/>
        </p:nvSpPr>
        <p:spPr>
          <a:xfrm>
            <a:off x="3429000" y="4709160"/>
            <a:ext cx="2560320" cy="731520"/>
          </a:xfrm>
          <a:prstGeom prst="rect">
            <a:avLst/>
          </a:prstGeom>
          <a:noFill/>
          <a:ln>
            <a:noFill/>
          </a:ln>
        </p:spPr>
        <p:txBody>
          <a:bodyPr wrap="square" lIns="73152" tIns="73152" rIns="73152" bIns="73152" anchor="t">
            <a:noAutofit/>
          </a:bodyPr>
          <a:lstStyle/>
          <a:p>
            <a:pPr algn="l">
              <a:buNone/>
            </a:pPr>
            <a:r>
              <a:rPr lang="en-US" sz="1300" b="0" i="0" dirty="0">
                <a:solidFill>
                  <a:srgbClr val="E6EDF3"/>
                </a:solidFill>
                <a:latin typeface="Open Sans"/>
                <a:cs typeface="Open Sans"/>
              </a:rPr>
              <a:t>2 docs: test before merge, no overclaiming</a:t>
            </a:r>
            <a:endParaRPr lang="en-US" sz="1300" dirty="0"/>
          </a:p>
        </p:txBody>
      </p:sp>
      <p:sp>
        <p:nvSpPr>
          <p:cNvPr id="15" name="Text 15"/>
          <p:cNvSpPr txBox="1"/>
          <p:nvPr/>
        </p:nvSpPr>
        <p:spPr>
          <a:xfrm>
            <a:off x="6172200" y="4160520"/>
            <a:ext cx="2560320" cy="548640"/>
          </a:xfrm>
          <a:prstGeom prst="rect">
            <a:avLst/>
          </a:prstGeom>
          <a:noFill/>
          <a:ln>
            <a:noFill/>
          </a:ln>
        </p:spPr>
        <p:txBody>
          <a:bodyPr wrap="square" lIns="73152" tIns="73152" rIns="73152" bIns="73152" anchor="t">
            <a:noAutofit/>
          </a:bodyPr>
          <a:lstStyle/>
          <a:p>
            <a:pPr algn="l">
              <a:buNone/>
            </a:pPr>
            <a:r>
              <a:rPr lang="en-US" sz="2800" b="1" i="0" dirty="0">
                <a:solidFill>
                  <a:srgbClr val="2DD4BF"/>
                </a:solidFill>
                <a:latin typeface="Montserrat"/>
                <a:cs typeface="Montserrat"/>
              </a:rPr>
              <a:t>21</a:t>
            </a:r>
            <a:endParaRPr lang="en-US" sz="2800" dirty="0"/>
          </a:p>
        </p:txBody>
      </p:sp>
      <p:sp>
        <p:nvSpPr>
          <p:cNvPr id="16" name="Text 16"/>
          <p:cNvSpPr txBox="1"/>
          <p:nvPr/>
        </p:nvSpPr>
        <p:spPr>
          <a:xfrm>
            <a:off x="6172200" y="4709160"/>
            <a:ext cx="2560320" cy="731520"/>
          </a:xfrm>
          <a:prstGeom prst="rect">
            <a:avLst/>
          </a:prstGeom>
          <a:noFill/>
          <a:ln>
            <a:noFill/>
          </a:ln>
        </p:spPr>
        <p:txBody>
          <a:bodyPr wrap="square" lIns="73152" tIns="73152" rIns="73152" bIns="73152" anchor="t">
            <a:noAutofit/>
          </a:bodyPr>
          <a:lstStyle/>
          <a:p>
            <a:pPr algn="l">
              <a:buNone/>
            </a:pPr>
            <a:r>
              <a:rPr lang="en-US" sz="1300" b="0" i="0" dirty="0">
                <a:solidFill>
                  <a:srgbClr val="E6EDF3"/>
                </a:solidFill>
                <a:latin typeface="Open Sans"/>
                <a:cs typeface="Open Sans"/>
              </a:rPr>
              <a:t>merged pull requests</a:t>
            </a:r>
            <a:endParaRPr lang="en-US" sz="1300" dirty="0"/>
          </a:p>
        </p:txBody>
      </p:sp>
      <p:sp>
        <p:nvSpPr>
          <p:cNvPr id="17" name="Text 17"/>
          <p:cNvSpPr txBox="1"/>
          <p:nvPr/>
        </p:nvSpPr>
        <p:spPr>
          <a:xfrm>
            <a:off x="8915400" y="4160520"/>
            <a:ext cx="2560320" cy="548640"/>
          </a:xfrm>
          <a:prstGeom prst="rect">
            <a:avLst/>
          </a:prstGeom>
          <a:noFill/>
          <a:ln>
            <a:noFill/>
          </a:ln>
        </p:spPr>
        <p:txBody>
          <a:bodyPr wrap="square" lIns="73152" tIns="73152" rIns="73152" bIns="73152" anchor="t">
            <a:noAutofit/>
          </a:bodyPr>
          <a:lstStyle/>
          <a:p>
            <a:pPr algn="l">
              <a:buNone/>
            </a:pPr>
            <a:r>
              <a:rPr lang="en-US" sz="2800" b="1" i="0" dirty="0">
                <a:solidFill>
                  <a:srgbClr val="2DD4BF"/>
                </a:solidFill>
                <a:latin typeface="Montserrat"/>
                <a:cs typeface="Montserrat"/>
              </a:rPr>
              <a:t>129</a:t>
            </a:r>
            <a:endParaRPr lang="en-US" sz="2800" dirty="0"/>
          </a:p>
        </p:txBody>
      </p:sp>
      <p:sp>
        <p:nvSpPr>
          <p:cNvPr id="18" name="Text 18"/>
          <p:cNvSpPr txBox="1"/>
          <p:nvPr/>
        </p:nvSpPr>
        <p:spPr>
          <a:xfrm>
            <a:off x="8915400" y="4709160"/>
            <a:ext cx="2560320" cy="731520"/>
          </a:xfrm>
          <a:prstGeom prst="rect">
            <a:avLst/>
          </a:prstGeom>
          <a:noFill/>
          <a:ln>
            <a:noFill/>
          </a:ln>
        </p:spPr>
        <p:txBody>
          <a:bodyPr wrap="square" lIns="73152" tIns="73152" rIns="73152" bIns="73152" anchor="t">
            <a:noAutofit/>
          </a:bodyPr>
          <a:lstStyle/>
          <a:p>
            <a:pPr algn="l">
              <a:buNone/>
            </a:pPr>
            <a:r>
              <a:rPr lang="en-US" sz="1300" b="0" i="0" dirty="0">
                <a:solidFill>
                  <a:srgbClr val="E6EDF3"/>
                </a:solidFill>
                <a:latin typeface="Open Sans"/>
                <a:cs typeface="Open Sans"/>
              </a:rPr>
              <a:t>tests passing on Python 3.9 &amp; 3.13</a:t>
            </a:r>
            <a:endParaRPr lang="en-US" sz="1300" dirty="0"/>
          </a:p>
        </p:txBody>
      </p:sp>
      <p:sp>
        <p:nvSpPr>
          <p:cNvPr id="19" name="Text 19"/>
          <p:cNvSpPr txBox="1"/>
          <p:nvPr/>
        </p:nvSpPr>
        <p:spPr>
          <a:xfrm>
            <a:off x="685800" y="5532120"/>
            <a:ext cx="10789920" cy="457200"/>
          </a:xfrm>
          <a:prstGeom prst="rect">
            <a:avLst/>
          </a:prstGeom>
          <a:noFill/>
          <a:ln>
            <a:noFill/>
          </a:ln>
        </p:spPr>
        <p:txBody>
          <a:bodyPr wrap="square" lIns="73152" tIns="73152" rIns="73152" bIns="73152" anchor="t">
            <a:noAutofit/>
          </a:bodyPr>
          <a:lstStyle/>
          <a:p>
            <a:pPr algn="l">
              <a:buNone/>
            </a:pPr>
            <a:r>
              <a:rPr lang="en-US" sz="1250" b="0" i="1" dirty="0">
                <a:solidFill>
                  <a:srgbClr val="9FB3C8"/>
                </a:solidFill>
                <a:latin typeface="Open Sans"/>
                <a:cs typeface="Open Sans"/>
              </a:rPr>
              <a:t>Full write-up and specs: the /.kiro folder in our repo.</a:t>
            </a:r>
            <a:endParaRPr lang="en-US" sz="1250" dirty="0"/>
          </a:p>
        </p:txBody>
      </p:sp>
      <p:sp>
        <p:nvSpPr>
          <p:cNvPr id="20" name="Shape 20"/>
          <p:cNvSpPr/>
          <p:nvPr/>
        </p:nvSpPr>
        <p:spPr>
          <a:xfrm>
            <a:off x="685800" y="6419088"/>
            <a:ext cx="502920" cy="45720"/>
          </a:xfrm>
          <a:prstGeom prst="rect">
            <a:avLst/>
          </a:prstGeom>
          <a:solidFill>
            <a:srgbClr val="2DD4BF"/>
          </a:solidFill>
          <a:ln>
            <a:noFill/>
          </a:ln>
        </p:spPr>
        <p:txBody>
          <a:bodyPr/>
          <a:lstStyle/>
          <a:p>
            <a:endParaRPr lang="en-US"/>
          </a:p>
        </p:txBody>
      </p:sp>
      <p:sp>
        <p:nvSpPr>
          <p:cNvPr id="21" name="Text 21"/>
          <p:cNvSpPr txBox="1"/>
          <p:nvPr/>
        </p:nvSpPr>
        <p:spPr>
          <a:xfrm>
            <a:off x="1280160" y="6272784"/>
            <a:ext cx="5486400" cy="320040"/>
          </a:xfrm>
          <a:prstGeom prst="rect">
            <a:avLst/>
          </a:prstGeom>
          <a:noFill/>
          <a:ln>
            <a:noFill/>
          </a:ln>
        </p:spPr>
        <p:txBody>
          <a:bodyPr wrap="square" lIns="73152" tIns="73152" rIns="73152" bIns="73152" anchor="t">
            <a:noAutofit/>
          </a:bodyPr>
          <a:lstStyle/>
          <a:p>
            <a:pPr algn="l">
              <a:buNone/>
            </a:pPr>
            <a:r>
              <a:rPr lang="en-US" sz="1000" b="0" i="0" dirty="0">
                <a:solidFill>
                  <a:srgbClr val="9FB3C8"/>
                </a:solidFill>
                <a:latin typeface="Open Sans"/>
                <a:cs typeface="Open Sans"/>
              </a:rPr>
              <a:t>DataMon  ·  Hackachusetts  ·  Robotics &amp; Hardware</a:t>
            </a:r>
            <a:endParaRPr lang="en-US" sz="1000" dirty="0"/>
          </a:p>
        </p:txBody>
      </p:sp>
      <p:sp>
        <p:nvSpPr>
          <p:cNvPr id="22" name="Text 22"/>
          <p:cNvSpPr txBox="1"/>
          <p:nvPr/>
        </p:nvSpPr>
        <p:spPr>
          <a:xfrm>
            <a:off x="10607040" y="6272784"/>
            <a:ext cx="914400" cy="320040"/>
          </a:xfrm>
          <a:prstGeom prst="rect">
            <a:avLst/>
          </a:prstGeom>
          <a:noFill/>
          <a:ln>
            <a:noFill/>
          </a:ln>
        </p:spPr>
        <p:txBody>
          <a:bodyPr wrap="square" lIns="73152" tIns="73152" rIns="73152" bIns="73152" anchor="t">
            <a:noAutofit/>
          </a:bodyPr>
          <a:lstStyle/>
          <a:p>
            <a:pPr algn="r">
              <a:buNone/>
            </a:pPr>
            <a:r>
              <a:rPr lang="en-US" sz="1000" b="0" i="0" dirty="0">
                <a:solidFill>
                  <a:srgbClr val="9FB3C8"/>
                </a:solidFill>
                <a:latin typeface="Open Sans"/>
                <a:cs typeface="Open Sans"/>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p:cNvGrpSpPr/>
        <p:nvPr/>
      </p:nvGrpSpPr>
      <p:grpSpPr>
        <a:xfrm>
          <a:off x="0" y="0"/>
          <a:ext cx="0" cy="0"/>
          <a:chOff x="0" y="0"/>
          <a:chExt cx="0" cy="0"/>
        </a:xfrm>
      </p:grpSpPr>
      <p:sp>
        <p:nvSpPr>
          <p:cNvPr id="3" name="Text 3"/>
          <p:cNvSpPr txBox="1"/>
          <p:nvPr/>
        </p:nvSpPr>
        <p:spPr>
          <a:xfrm>
            <a:off x="685800" y="502920"/>
            <a:ext cx="10789920" cy="365760"/>
          </a:xfrm>
          <a:prstGeom prst="rect">
            <a:avLst/>
          </a:prstGeom>
          <a:noFill/>
          <a:ln>
            <a:noFill/>
          </a:ln>
        </p:spPr>
        <p:txBody>
          <a:bodyPr wrap="square" lIns="73152" tIns="73152" rIns="73152" bIns="73152" anchor="t">
            <a:noAutofit/>
          </a:bodyPr>
          <a:lstStyle/>
          <a:p>
            <a:pPr algn="l">
              <a:buNone/>
            </a:pPr>
            <a:r>
              <a:rPr lang="en-US" sz="1300" b="1" i="0" dirty="0">
                <a:solidFill>
                  <a:srgbClr val="2DD4BF"/>
                </a:solidFill>
                <a:latin typeface="Montserrat"/>
                <a:cs typeface="Montserrat"/>
              </a:rPr>
              <a:t>POTENTIAL VALUE</a:t>
            </a:r>
            <a:endParaRPr lang="en-US" sz="1300" dirty="0"/>
          </a:p>
        </p:txBody>
      </p:sp>
      <p:sp>
        <p:nvSpPr>
          <p:cNvPr id="4" name="Text 4"/>
          <p:cNvSpPr txBox="1"/>
          <p:nvPr/>
        </p:nvSpPr>
        <p:spPr>
          <a:xfrm>
            <a:off x="685800" y="850392"/>
            <a:ext cx="10789920" cy="914400"/>
          </a:xfrm>
          <a:prstGeom prst="rect">
            <a:avLst/>
          </a:prstGeom>
          <a:noFill/>
          <a:ln>
            <a:noFill/>
          </a:ln>
        </p:spPr>
        <p:txBody>
          <a:bodyPr wrap="square" lIns="73152" tIns="73152" rIns="73152" bIns="73152" anchor="t">
            <a:noAutofit/>
          </a:bodyPr>
          <a:lstStyle/>
          <a:p>
            <a:pPr algn="l">
              <a:buNone/>
            </a:pPr>
            <a:r>
              <a:rPr lang="en-US" sz="3400" b="1" i="0" dirty="0">
                <a:solidFill>
                  <a:srgbClr val="E6EDF3"/>
                </a:solidFill>
                <a:latin typeface="Montserrat"/>
                <a:cs typeface="Montserrat"/>
              </a:rPr>
              <a:t>Who benefits, and how it scales</a:t>
            </a:r>
            <a:endParaRPr lang="en-US" sz="3400" dirty="0"/>
          </a:p>
        </p:txBody>
      </p:sp>
      <p:sp>
        <p:nvSpPr>
          <p:cNvPr id="5" name="Shape 5"/>
          <p:cNvSpPr/>
          <p:nvPr/>
        </p:nvSpPr>
        <p:spPr>
          <a:xfrm>
            <a:off x="685800" y="1874520"/>
            <a:ext cx="3429000" cy="1783080"/>
          </a:xfrm>
          <a:prstGeom prst="roundRect">
            <a:avLst>
              <a:gd name="adj" fmla="val 10000"/>
            </a:avLst>
          </a:prstGeom>
          <a:solidFill>
            <a:srgbClr val="151C26"/>
          </a:solidFill>
          <a:ln w="15875">
            <a:solidFill>
              <a:srgbClr val="23414A"/>
            </a:solidFill>
          </a:ln>
        </p:spPr>
        <p:txBody>
          <a:bodyPr/>
          <a:lstStyle/>
          <a:p>
            <a:endParaRPr lang="en-US"/>
          </a:p>
        </p:txBody>
      </p:sp>
      <p:sp>
        <p:nvSpPr>
          <p:cNvPr id="6" name="Shape 6"/>
          <p:cNvSpPr/>
          <p:nvPr/>
        </p:nvSpPr>
        <p:spPr>
          <a:xfrm>
            <a:off x="685800" y="2039112"/>
            <a:ext cx="64008" cy="1453896"/>
          </a:xfrm>
          <a:prstGeom prst="rect">
            <a:avLst/>
          </a:prstGeom>
          <a:solidFill>
            <a:srgbClr val="2DD4BF"/>
          </a:solidFill>
          <a:ln>
            <a:noFill/>
          </a:ln>
        </p:spPr>
        <p:txBody>
          <a:bodyPr/>
          <a:lstStyle/>
          <a:p>
            <a:endParaRPr lang="en-US"/>
          </a:p>
        </p:txBody>
      </p:sp>
      <p:sp>
        <p:nvSpPr>
          <p:cNvPr id="7" name="Text 7"/>
          <p:cNvSpPr txBox="1"/>
          <p:nvPr/>
        </p:nvSpPr>
        <p:spPr>
          <a:xfrm>
            <a:off x="914400" y="2011680"/>
            <a:ext cx="3063240" cy="457200"/>
          </a:xfrm>
          <a:prstGeom prst="rect">
            <a:avLst/>
          </a:prstGeom>
          <a:noFill/>
          <a:ln>
            <a:noFill/>
          </a:ln>
        </p:spPr>
        <p:txBody>
          <a:bodyPr wrap="square" lIns="73152" tIns="73152" rIns="73152" bIns="73152" anchor="t">
            <a:noAutofit/>
          </a:bodyPr>
          <a:lstStyle/>
          <a:p>
            <a:pPr algn="l">
              <a:buNone/>
            </a:pPr>
            <a:r>
              <a:rPr lang="en-US" sz="1800" b="1" i="0" dirty="0">
                <a:solidFill>
                  <a:srgbClr val="2DD4BF"/>
                </a:solidFill>
                <a:latin typeface="Montserrat"/>
                <a:cs typeface="Montserrat"/>
              </a:rPr>
              <a:t>Robotics labs</a:t>
            </a:r>
            <a:endParaRPr lang="en-US" sz="1800" dirty="0"/>
          </a:p>
        </p:txBody>
      </p:sp>
      <p:sp>
        <p:nvSpPr>
          <p:cNvPr id="8" name="Text 8"/>
          <p:cNvSpPr txBox="1"/>
          <p:nvPr/>
        </p:nvSpPr>
        <p:spPr>
          <a:xfrm>
            <a:off x="914400" y="2441448"/>
            <a:ext cx="3063240" cy="1097280"/>
          </a:xfrm>
          <a:prstGeom prst="rect">
            <a:avLst/>
          </a:prstGeom>
          <a:noFill/>
          <a:ln>
            <a:noFill/>
          </a:ln>
        </p:spPr>
        <p:txBody>
          <a:bodyPr wrap="square" lIns="73152" tIns="73152" rIns="73152" bIns="73152" anchor="t">
            <a:noAutofit/>
          </a:bodyPr>
          <a:lstStyle/>
          <a:p>
            <a:pPr algn="l">
              <a:buNone/>
            </a:pPr>
            <a:r>
              <a:rPr lang="en-US" sz="1350" b="0" i="0" dirty="0">
                <a:solidFill>
                  <a:srgbClr val="E6EDF3"/>
                </a:solidFill>
                <a:latin typeface="Open Sans"/>
                <a:cs typeface="Open Sans"/>
              </a:rPr>
              <a:t>Stop wasting training runs on broken demonstrations.</a:t>
            </a:r>
            <a:endParaRPr lang="en-US" sz="1350" dirty="0"/>
          </a:p>
        </p:txBody>
      </p:sp>
      <p:sp>
        <p:nvSpPr>
          <p:cNvPr id="9" name="Shape 9"/>
          <p:cNvSpPr/>
          <p:nvPr/>
        </p:nvSpPr>
        <p:spPr>
          <a:xfrm>
            <a:off x="4343400" y="1874520"/>
            <a:ext cx="3429000" cy="1783080"/>
          </a:xfrm>
          <a:prstGeom prst="roundRect">
            <a:avLst>
              <a:gd name="adj" fmla="val 10000"/>
            </a:avLst>
          </a:prstGeom>
          <a:solidFill>
            <a:srgbClr val="151C26"/>
          </a:solidFill>
          <a:ln w="15875">
            <a:solidFill>
              <a:srgbClr val="23414A"/>
            </a:solidFill>
          </a:ln>
        </p:spPr>
        <p:txBody>
          <a:bodyPr/>
          <a:lstStyle/>
          <a:p>
            <a:endParaRPr lang="en-US"/>
          </a:p>
        </p:txBody>
      </p:sp>
      <p:sp>
        <p:nvSpPr>
          <p:cNvPr id="10" name="Shape 10"/>
          <p:cNvSpPr/>
          <p:nvPr/>
        </p:nvSpPr>
        <p:spPr>
          <a:xfrm>
            <a:off x="4343400" y="2039112"/>
            <a:ext cx="64008" cy="1453896"/>
          </a:xfrm>
          <a:prstGeom prst="rect">
            <a:avLst/>
          </a:prstGeom>
          <a:solidFill>
            <a:srgbClr val="2DD4BF"/>
          </a:solidFill>
          <a:ln>
            <a:noFill/>
          </a:ln>
        </p:spPr>
        <p:txBody>
          <a:bodyPr/>
          <a:lstStyle/>
          <a:p>
            <a:endParaRPr lang="en-US"/>
          </a:p>
        </p:txBody>
      </p:sp>
      <p:sp>
        <p:nvSpPr>
          <p:cNvPr id="11" name="Text 11"/>
          <p:cNvSpPr txBox="1"/>
          <p:nvPr/>
        </p:nvSpPr>
        <p:spPr>
          <a:xfrm>
            <a:off x="4572000" y="2011680"/>
            <a:ext cx="3063240" cy="457200"/>
          </a:xfrm>
          <a:prstGeom prst="rect">
            <a:avLst/>
          </a:prstGeom>
          <a:noFill/>
          <a:ln>
            <a:noFill/>
          </a:ln>
        </p:spPr>
        <p:txBody>
          <a:bodyPr wrap="square" lIns="73152" tIns="73152" rIns="73152" bIns="73152" anchor="t">
            <a:noAutofit/>
          </a:bodyPr>
          <a:lstStyle/>
          <a:p>
            <a:pPr algn="l">
              <a:buNone/>
            </a:pPr>
            <a:r>
              <a:rPr lang="en-US" sz="1800" b="1" i="0" dirty="0">
                <a:solidFill>
                  <a:srgbClr val="2DD4BF"/>
                </a:solidFill>
                <a:latin typeface="Montserrat"/>
                <a:cs typeface="Montserrat"/>
              </a:rPr>
              <a:t>Data-collection teams</a:t>
            </a:r>
            <a:endParaRPr lang="en-US" sz="1800" dirty="0"/>
          </a:p>
        </p:txBody>
      </p:sp>
      <p:sp>
        <p:nvSpPr>
          <p:cNvPr id="12" name="Text 12"/>
          <p:cNvSpPr txBox="1"/>
          <p:nvPr/>
        </p:nvSpPr>
        <p:spPr>
          <a:xfrm>
            <a:off x="4572000" y="2441448"/>
            <a:ext cx="3063240" cy="1097280"/>
          </a:xfrm>
          <a:prstGeom prst="rect">
            <a:avLst/>
          </a:prstGeom>
          <a:noFill/>
          <a:ln>
            <a:noFill/>
          </a:ln>
        </p:spPr>
        <p:txBody>
          <a:bodyPr wrap="square" lIns="73152" tIns="73152" rIns="73152" bIns="73152" anchor="t">
            <a:noAutofit/>
          </a:bodyPr>
          <a:lstStyle/>
          <a:p>
            <a:pPr algn="l">
              <a:buNone/>
            </a:pPr>
            <a:r>
              <a:rPr lang="en-US" sz="1350" b="0" i="0" dirty="0">
                <a:solidFill>
                  <a:srgbClr val="E6EDF3"/>
                </a:solidFill>
                <a:latin typeface="Open Sans"/>
                <a:cs typeface="Open Sans"/>
              </a:rPr>
              <a:t>Catch a bad recording while the robot and operator are still there to redo it.</a:t>
            </a:r>
            <a:endParaRPr lang="en-US" sz="1350" dirty="0"/>
          </a:p>
        </p:txBody>
      </p:sp>
      <p:sp>
        <p:nvSpPr>
          <p:cNvPr id="13" name="Shape 13"/>
          <p:cNvSpPr/>
          <p:nvPr/>
        </p:nvSpPr>
        <p:spPr>
          <a:xfrm>
            <a:off x="8001000" y="1874520"/>
            <a:ext cx="3429000" cy="1783080"/>
          </a:xfrm>
          <a:prstGeom prst="roundRect">
            <a:avLst>
              <a:gd name="adj" fmla="val 10000"/>
            </a:avLst>
          </a:prstGeom>
          <a:solidFill>
            <a:srgbClr val="151C26"/>
          </a:solidFill>
          <a:ln w="15875">
            <a:solidFill>
              <a:srgbClr val="23414A"/>
            </a:solidFill>
          </a:ln>
        </p:spPr>
        <p:txBody>
          <a:bodyPr/>
          <a:lstStyle/>
          <a:p>
            <a:endParaRPr lang="en-US"/>
          </a:p>
        </p:txBody>
      </p:sp>
      <p:sp>
        <p:nvSpPr>
          <p:cNvPr id="14" name="Shape 14"/>
          <p:cNvSpPr/>
          <p:nvPr/>
        </p:nvSpPr>
        <p:spPr>
          <a:xfrm>
            <a:off x="8001000" y="2039112"/>
            <a:ext cx="64008" cy="1453896"/>
          </a:xfrm>
          <a:prstGeom prst="rect">
            <a:avLst/>
          </a:prstGeom>
          <a:solidFill>
            <a:srgbClr val="2DD4BF"/>
          </a:solidFill>
          <a:ln>
            <a:noFill/>
          </a:ln>
        </p:spPr>
        <p:txBody>
          <a:bodyPr/>
          <a:lstStyle/>
          <a:p>
            <a:endParaRPr lang="en-US"/>
          </a:p>
        </p:txBody>
      </p:sp>
      <p:sp>
        <p:nvSpPr>
          <p:cNvPr id="15" name="Text 15"/>
          <p:cNvSpPr txBox="1"/>
          <p:nvPr/>
        </p:nvSpPr>
        <p:spPr>
          <a:xfrm>
            <a:off x="8229600" y="2011680"/>
            <a:ext cx="3063240" cy="457200"/>
          </a:xfrm>
          <a:prstGeom prst="rect">
            <a:avLst/>
          </a:prstGeom>
          <a:noFill/>
          <a:ln>
            <a:noFill/>
          </a:ln>
        </p:spPr>
        <p:txBody>
          <a:bodyPr wrap="square" lIns="73152" tIns="73152" rIns="73152" bIns="73152" anchor="t">
            <a:noAutofit/>
          </a:bodyPr>
          <a:lstStyle/>
          <a:p>
            <a:pPr algn="l">
              <a:buNone/>
            </a:pPr>
            <a:r>
              <a:rPr lang="en-US" sz="1800" b="1" i="0" dirty="0">
                <a:solidFill>
                  <a:srgbClr val="2DD4BF"/>
                </a:solidFill>
                <a:latin typeface="Montserrat"/>
                <a:cs typeface="Montserrat"/>
              </a:rPr>
              <a:t>Dataset publishers</a:t>
            </a:r>
            <a:endParaRPr lang="en-US" sz="1800" dirty="0"/>
          </a:p>
        </p:txBody>
      </p:sp>
      <p:sp>
        <p:nvSpPr>
          <p:cNvPr id="16" name="Text 16"/>
          <p:cNvSpPr txBox="1"/>
          <p:nvPr/>
        </p:nvSpPr>
        <p:spPr>
          <a:xfrm>
            <a:off x="8229600" y="2441448"/>
            <a:ext cx="3063240" cy="1097280"/>
          </a:xfrm>
          <a:prstGeom prst="rect">
            <a:avLst/>
          </a:prstGeom>
          <a:noFill/>
          <a:ln>
            <a:noFill/>
          </a:ln>
        </p:spPr>
        <p:txBody>
          <a:bodyPr wrap="square" lIns="73152" tIns="73152" rIns="73152" bIns="73152" anchor="t">
            <a:noAutofit/>
          </a:bodyPr>
          <a:lstStyle/>
          <a:p>
            <a:pPr algn="l">
              <a:buNone/>
            </a:pPr>
            <a:r>
              <a:rPr lang="en-US" sz="1350" b="0" i="0" dirty="0">
                <a:solidFill>
                  <a:srgbClr val="E6EDF3"/>
                </a:solidFill>
                <a:latin typeface="Open Sans"/>
                <a:cs typeface="Open Sans"/>
              </a:rPr>
              <a:t>Ship a quality report and an audit trail with every release.</a:t>
            </a:r>
            <a:endParaRPr lang="en-US" sz="1350" dirty="0"/>
          </a:p>
        </p:txBody>
      </p:sp>
      <p:sp>
        <p:nvSpPr>
          <p:cNvPr id="17" name="Text 17"/>
          <p:cNvSpPr txBox="1"/>
          <p:nvPr/>
        </p:nvSpPr>
        <p:spPr>
          <a:xfrm>
            <a:off x="685800" y="3977640"/>
            <a:ext cx="10789920" cy="457200"/>
          </a:xfrm>
          <a:prstGeom prst="rect">
            <a:avLst/>
          </a:prstGeom>
          <a:noFill/>
          <a:ln>
            <a:noFill/>
          </a:ln>
        </p:spPr>
        <p:txBody>
          <a:bodyPr wrap="square" lIns="73152" tIns="73152" rIns="73152" bIns="73152" anchor="t">
            <a:noAutofit/>
          </a:bodyPr>
          <a:lstStyle/>
          <a:p>
            <a:pPr algn="l">
              <a:buNone/>
            </a:pPr>
            <a:r>
              <a:rPr lang="en-US" sz="1800" b="1" i="0" dirty="0">
                <a:solidFill>
                  <a:srgbClr val="2DD4BF"/>
                </a:solidFill>
                <a:latin typeface="Montserrat"/>
                <a:cs typeface="Montserrat"/>
              </a:rPr>
              <a:t>Built to scale</a:t>
            </a:r>
            <a:endParaRPr lang="en-US" sz="1800" dirty="0"/>
          </a:p>
        </p:txBody>
      </p:sp>
      <p:sp>
        <p:nvSpPr>
          <p:cNvPr id="18" name="Text 18"/>
          <p:cNvSpPr txBox="1"/>
          <p:nvPr/>
        </p:nvSpPr>
        <p:spPr>
          <a:xfrm>
            <a:off x="685800" y="4434840"/>
            <a:ext cx="10789920" cy="1645920"/>
          </a:xfrm>
          <a:prstGeom prst="rect">
            <a:avLst/>
          </a:prstGeom>
          <a:noFill/>
          <a:ln>
            <a:noFill/>
          </a:ln>
        </p:spPr>
        <p:txBody>
          <a:bodyPr wrap="square" lIns="73152" tIns="73152" rIns="73152" bIns="73152" anchor="t">
            <a:noAutofit/>
          </a:bodyPr>
          <a:lstStyle/>
          <a:p>
            <a:pPr algn="l" marL="285750" indent="-285750">
              <a:buClr>
                <a:srgbClr val="2DD4BF"/>
              </a:buClr>
              <a:buFont typeface="Arial"/>
              <a:buChar char="•"/>
            </a:pPr>
            <a:r>
              <a:rPr lang="en-US" sz="1400" b="0" i="0" dirty="0">
                <a:solidFill>
                  <a:srgbClr val="E6EDF3"/>
                </a:solidFill>
                <a:latin typeface="Open Sans"/>
                <a:cs typeface="Open Sans"/>
              </a:rPr>
              <a:t>Reads the open LeRobot format, so any dataset published that way works with no conversion</a:t>
            </a:r>
            <a:endParaRPr lang="en-US" sz="1400" dirty="0"/>
          </a:p>
          <a:p>
            <a:pPr algn="l" marL="285750" indent="-285750">
              <a:spcBef>
                <a:spcPts val="500"/>
              </a:spcBef>
              <a:buClr>
                <a:srgbClr val="2DD4BF"/>
              </a:buClr>
              <a:buFont typeface="Arial"/>
              <a:buChar char="•"/>
            </a:pPr>
            <a:r>
              <a:rPr lang="en-US" sz="1400" b="0" i="0" dirty="0">
                <a:solidFill>
                  <a:srgbClr val="E6EDF3"/>
                </a:solidFill>
                <a:latin typeface="Open Sans"/>
                <a:cs typeface="Open Sans"/>
              </a:rPr>
              <a:t>Streams from a live robot through a transport-agnostic collector adapter (ROS 2, WebSocket, robot SDKs)</a:t>
            </a:r>
            <a:endParaRPr lang="en-US" sz="1400" dirty="0"/>
          </a:p>
          <a:p>
            <a:pPr algn="l" marL="285750" indent="-285750">
              <a:spcBef>
                <a:spcPts val="500"/>
              </a:spcBef>
              <a:buClr>
                <a:srgbClr val="2DD4BF"/>
              </a:buClr>
              <a:buFont typeface="Arial"/>
              <a:buChar char="•"/>
            </a:pPr>
            <a:r>
              <a:rPr lang="en-US" sz="1400" b="0" i="0" dirty="0">
                <a:solidFill>
                  <a:srgbClr val="E6EDF3"/>
                </a:solidFill>
                <a:latin typeface="Open Sans"/>
                <a:cs typeface="Open Sans"/>
              </a:rPr>
              <a:t>Per-robot profiles and per-task baselines, so new rigs and tasks slot in</a:t>
            </a:r>
            <a:endParaRPr lang="en-US" sz="1400" dirty="0"/>
          </a:p>
        </p:txBody>
      </p:sp>
      <p:sp>
        <p:nvSpPr>
          <p:cNvPr id="19" name="Shape 19"/>
          <p:cNvSpPr/>
          <p:nvPr/>
        </p:nvSpPr>
        <p:spPr>
          <a:xfrm>
            <a:off x="685800" y="6419088"/>
            <a:ext cx="502920" cy="45720"/>
          </a:xfrm>
          <a:prstGeom prst="rect">
            <a:avLst/>
          </a:prstGeom>
          <a:solidFill>
            <a:srgbClr val="2DD4BF"/>
          </a:solidFill>
          <a:ln>
            <a:noFill/>
          </a:ln>
        </p:spPr>
        <p:txBody>
          <a:bodyPr/>
          <a:lstStyle/>
          <a:p>
            <a:endParaRPr lang="en-US"/>
          </a:p>
        </p:txBody>
      </p:sp>
      <p:sp>
        <p:nvSpPr>
          <p:cNvPr id="20" name="Text 20"/>
          <p:cNvSpPr txBox="1"/>
          <p:nvPr/>
        </p:nvSpPr>
        <p:spPr>
          <a:xfrm>
            <a:off x="1280160" y="6272784"/>
            <a:ext cx="5486400" cy="320040"/>
          </a:xfrm>
          <a:prstGeom prst="rect">
            <a:avLst/>
          </a:prstGeom>
          <a:noFill/>
          <a:ln>
            <a:noFill/>
          </a:ln>
        </p:spPr>
        <p:txBody>
          <a:bodyPr wrap="square" lIns="73152" tIns="73152" rIns="73152" bIns="73152" anchor="t">
            <a:noAutofit/>
          </a:bodyPr>
          <a:lstStyle/>
          <a:p>
            <a:pPr algn="l">
              <a:buNone/>
            </a:pPr>
            <a:r>
              <a:rPr lang="en-US" sz="1000" b="0" i="0" dirty="0">
                <a:solidFill>
                  <a:srgbClr val="9FB3C8"/>
                </a:solidFill>
                <a:latin typeface="Open Sans"/>
                <a:cs typeface="Open Sans"/>
              </a:rPr>
              <a:t>DataMon  ·  Hackachusetts  ·  Robotics &amp; Hardware</a:t>
            </a:r>
            <a:endParaRPr lang="en-US" sz="1000" dirty="0"/>
          </a:p>
        </p:txBody>
      </p:sp>
      <p:sp>
        <p:nvSpPr>
          <p:cNvPr id="21" name="Text 21"/>
          <p:cNvSpPr txBox="1"/>
          <p:nvPr/>
        </p:nvSpPr>
        <p:spPr>
          <a:xfrm>
            <a:off x="10607040" y="6272784"/>
            <a:ext cx="914400" cy="320040"/>
          </a:xfrm>
          <a:prstGeom prst="rect">
            <a:avLst/>
          </a:prstGeom>
          <a:noFill/>
          <a:ln>
            <a:noFill/>
          </a:ln>
        </p:spPr>
        <p:txBody>
          <a:bodyPr wrap="square" lIns="73152" tIns="73152" rIns="73152" bIns="73152" anchor="t">
            <a:noAutofit/>
          </a:bodyPr>
          <a:lstStyle/>
          <a:p>
            <a:pPr algn="r">
              <a:buNone/>
            </a:pPr>
            <a:r>
              <a:rPr lang="en-US" sz="1000" b="0" i="0" dirty="0">
                <a:solidFill>
                  <a:srgbClr val="9FB3C8"/>
                </a:solidFill>
                <a:latin typeface="Open Sans"/>
                <a:cs typeface="Open Sans"/>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p:cNvGrpSpPr/>
        <p:nvPr/>
      </p:nvGrpSpPr>
      <p:grpSpPr>
        <a:xfrm>
          <a:off x="0" y="0"/>
          <a:ext cx="0" cy="0"/>
          <a:chOff x="0" y="0"/>
          <a:chExt cx="0" cy="0"/>
        </a:xfrm>
      </p:grpSpPr>
      <p:pic>
        <p:nvPicPr>
          <p:cNvPr id="3" name="mascot.png"/>
          <p:cNvPicPr>
            <a:picLocks noChangeAspect="1"/>
          </p:cNvPicPr>
          <p:nvPr/>
        </p:nvPicPr>
        <p:blipFill>
          <a:blip r:embed="rId3"/>
          <a:stretch>
            <a:fillRect/>
          </a:stretch>
        </p:blipFill>
        <p:spPr>
          <a:xfrm>
            <a:off x="777240" y="914400"/>
            <a:ext cx="1463040" cy="1463040"/>
          </a:xfrm>
          <a:prstGeom prst="rect">
            <a:avLst/>
          </a:prstGeom>
        </p:spPr>
      </p:pic>
      <p:sp>
        <p:nvSpPr>
          <p:cNvPr id="4" name="Text 4"/>
          <p:cNvSpPr txBox="1"/>
          <p:nvPr/>
        </p:nvSpPr>
        <p:spPr>
          <a:xfrm>
            <a:off x="2468880" y="960120"/>
            <a:ext cx="4572000" cy="914400"/>
          </a:xfrm>
          <a:prstGeom prst="rect">
            <a:avLst/>
          </a:prstGeom>
          <a:noFill/>
          <a:ln>
            <a:noFill/>
          </a:ln>
        </p:spPr>
        <p:txBody>
          <a:bodyPr wrap="square" lIns="73152" tIns="73152" rIns="73152" bIns="73152" anchor="t">
            <a:noAutofit/>
          </a:bodyPr>
          <a:lstStyle/>
          <a:p>
            <a:pPr algn="l">
              <a:buNone/>
            </a:pPr>
            <a:r>
              <a:rPr lang="en-US" sz="4000" b="1" i="0" dirty="0">
                <a:solidFill>
                  <a:srgbClr val="E6EDF3"/>
                </a:solidFill>
                <a:latin typeface="Montserrat"/>
                <a:cs typeface="Montserrat"/>
              </a:rPr>
              <a:t>Try DataMon</a:t>
            </a:r>
            <a:endParaRPr lang="en-US" sz="4000" dirty="0"/>
          </a:p>
        </p:txBody>
      </p:sp>
      <p:sp>
        <p:nvSpPr>
          <p:cNvPr id="5" name="Text 5"/>
          <p:cNvSpPr txBox="1"/>
          <p:nvPr/>
        </p:nvSpPr>
        <p:spPr>
          <a:xfrm>
            <a:off x="2468880" y="1691640"/>
            <a:ext cx="4572000" cy="548640"/>
          </a:xfrm>
          <a:prstGeom prst="rect">
            <a:avLst/>
          </a:prstGeom>
          <a:noFill/>
          <a:ln>
            <a:noFill/>
          </a:ln>
        </p:spPr>
        <p:txBody>
          <a:bodyPr wrap="square" lIns="73152" tIns="73152" rIns="73152" bIns="73152" anchor="t">
            <a:noAutofit/>
          </a:bodyPr>
          <a:lstStyle/>
          <a:p>
            <a:pPr algn="l">
              <a:buNone/>
            </a:pPr>
            <a:r>
              <a:rPr lang="en-US" sz="2000" b="0" i="1" dirty="0">
                <a:solidFill>
                  <a:srgbClr val="2DD4BF"/>
                </a:solidFill>
                <a:latin typeface="Open Sans"/>
                <a:cs typeface="Open Sans"/>
              </a:rPr>
              <a:t>Good data in. Bad data out.</a:t>
            </a:r>
            <a:endParaRPr lang="en-US" sz="2000" dirty="0"/>
          </a:p>
        </p:txBody>
      </p:sp>
      <p:sp>
        <p:nvSpPr>
          <p:cNvPr id="6" name="Text 6"/>
          <p:cNvSpPr txBox="1"/>
          <p:nvPr/>
        </p:nvSpPr>
        <p:spPr>
          <a:xfrm>
            <a:off x="777240" y="2743200"/>
            <a:ext cx="5760720" cy="2468880"/>
          </a:xfrm>
          <a:prstGeom prst="roundRect">
            <a:avLst>
              <a:gd name="adj" fmla="val 8000"/>
            </a:avLst>
          </a:prstGeom>
          <a:solidFill>
            <a:srgbClr val="151C26"/>
          </a:solidFill>
          <a:ln w="15875">
            <a:solidFill>
              <a:srgbClr val="23414A"/>
            </a:solidFill>
          </a:ln>
        </p:spPr>
        <p:txBody>
          <a:bodyPr wrap="square" lIns="228600" tIns="228600" rIns="228600" bIns="228600" anchor="t">
            <a:noAutofit/>
          </a:bodyPr>
          <a:lstStyle/>
          <a:p>
            <a:pPr algn="l">
              <a:buNone/>
            </a:pPr>
            <a:r>
              <a:rPr lang="en-US" sz="1200" b="1" i="0" dirty="0">
                <a:solidFill>
                  <a:srgbClr val="9FB3C8"/>
                </a:solidFill>
                <a:latin typeface="Montserrat"/>
                <a:cs typeface="Montserrat"/>
              </a:rPr>
              <a:t>LIVE SITE</a:t>
            </a:r>
            <a:endParaRPr lang="en-US" sz="1200" dirty="0"/>
          </a:p>
          <a:p>
            <a:pPr algn="l">
              <a:spcBef>
                <a:spcPts val="200"/>
              </a:spcBef>
              <a:buNone/>
            </a:pPr>
            <a:r>
              <a:rPr lang="en-US" sz="1700" b="1" i="0" dirty="0">
                <a:solidFill>
                  <a:srgbClr val="2DD4BF"/>
                </a:solidFill>
                <a:latin typeface="Open Sans"/>
                <a:cs typeface="Open Sans"/>
              </a:rPr>
              <a:t>hackachusetts-datamon.streamlit.app</a:t>
            </a:r>
            <a:endParaRPr lang="en-US" sz="1700" dirty="0"/>
          </a:p>
          <a:p>
            <a:pPr algn="l">
              <a:spcBef>
                <a:spcPts val="1400"/>
              </a:spcBef>
              <a:buNone/>
            </a:pPr>
            <a:r>
              <a:rPr lang="en-US" sz="1200" b="1" i="0" dirty="0">
                <a:solidFill>
                  <a:srgbClr val="9FB3C8"/>
                </a:solidFill>
                <a:latin typeface="Montserrat"/>
                <a:cs typeface="Montserrat"/>
              </a:rPr>
              <a:t>SIGN IN</a:t>
            </a:r>
            <a:endParaRPr lang="en-US" sz="1200" dirty="0"/>
          </a:p>
          <a:p>
            <a:pPr algn="l">
              <a:spcBef>
                <a:spcPts val="200"/>
              </a:spcBef>
              <a:buNone/>
            </a:pPr>
            <a:r>
              <a:rPr lang="en-US" sz="1700" b="1" i="0" dirty="0">
                <a:solidFill>
                  <a:srgbClr val="E6EDF3"/>
                </a:solidFill>
                <a:latin typeface="Open Sans"/>
                <a:cs typeface="Open Sans"/>
              </a:rPr>
              <a:t>judge  /  Hello World!</a:t>
            </a:r>
            <a:endParaRPr lang="en-US" sz="1700" dirty="0"/>
          </a:p>
          <a:p>
            <a:pPr algn="l">
              <a:spcBef>
                <a:spcPts val="1400"/>
              </a:spcBef>
              <a:buNone/>
            </a:pPr>
            <a:r>
              <a:rPr lang="en-US" sz="1200" b="1" i="0" dirty="0">
                <a:solidFill>
                  <a:srgbClr val="9FB3C8"/>
                </a:solidFill>
                <a:latin typeface="Montserrat"/>
                <a:cs typeface="Montserrat"/>
              </a:rPr>
              <a:t>CODE + KIRO SPECS</a:t>
            </a:r>
            <a:endParaRPr lang="en-US" sz="1200" dirty="0"/>
          </a:p>
          <a:p>
            <a:pPr algn="l">
              <a:spcBef>
                <a:spcPts val="200"/>
              </a:spcBef>
              <a:buNone/>
            </a:pPr>
            <a:r>
              <a:rPr lang="en-US" sz="1700" b="1" i="0" dirty="0">
                <a:solidFill>
                  <a:srgbClr val="2DD4BF"/>
                </a:solidFill>
                <a:latin typeface="Open Sans"/>
                <a:cs typeface="Open Sans"/>
              </a:rPr>
              <a:t>github.com/AZALAH/HackachusettsR3</a:t>
            </a:r>
            <a:endParaRPr lang="en-US" sz="1700" dirty="0"/>
          </a:p>
        </p:txBody>
      </p:sp>
      <p:pic>
        <p:nvPicPr>
          <p:cNvPr id="7" name="login.png"/>
          <p:cNvPicPr>
            <a:picLocks noChangeAspect="1"/>
          </p:cNvPicPr>
          <p:nvPr/>
        </p:nvPicPr>
        <p:blipFill>
          <a:blip r:embed="rId4"/>
          <a:stretch>
            <a:fillRect/>
          </a:stretch>
        </p:blipFill>
        <p:spPr>
          <a:xfrm>
            <a:off x="6812280" y="960120"/>
            <a:ext cx="4709160" cy="2996738"/>
          </a:xfrm>
          <a:prstGeom prst="rect">
            <a:avLst/>
          </a:prstGeom>
        </p:spPr>
      </p:pic>
      <p:sp>
        <p:nvSpPr>
          <p:cNvPr id="8" name="Text 8"/>
          <p:cNvSpPr txBox="1"/>
          <p:nvPr/>
        </p:nvSpPr>
        <p:spPr>
          <a:xfrm>
            <a:off x="6812280" y="4069080"/>
            <a:ext cx="4709160" cy="457200"/>
          </a:xfrm>
          <a:prstGeom prst="rect">
            <a:avLst/>
          </a:prstGeom>
          <a:noFill/>
          <a:ln>
            <a:noFill/>
          </a:ln>
        </p:spPr>
        <p:txBody>
          <a:bodyPr wrap="square" lIns="73152" tIns="73152" rIns="73152" bIns="73152" anchor="t">
            <a:noAutofit/>
          </a:bodyPr>
          <a:lstStyle/>
          <a:p>
            <a:pPr algn="ctr">
              <a:buNone/>
            </a:pPr>
            <a:r>
              <a:rPr lang="en-US" sz="1200" b="0" i="1" dirty="0">
                <a:solidFill>
                  <a:srgbClr val="9FB3C8"/>
                </a:solidFill>
                <a:latin typeface="Open Sans"/>
                <a:cs typeface="Open Sans"/>
              </a:rPr>
              <a:t>The DataMon sign-in page</a:t>
            </a:r>
            <a:endParaRPr lang="en-US" sz="1200" dirty="0"/>
          </a:p>
        </p:txBody>
      </p:sp>
      <p:sp>
        <p:nvSpPr>
          <p:cNvPr id="9" name="Text 9"/>
          <p:cNvSpPr txBox="1"/>
          <p:nvPr/>
        </p:nvSpPr>
        <p:spPr>
          <a:xfrm>
            <a:off x="6812280" y="4846320"/>
            <a:ext cx="4709160" cy="822960"/>
          </a:xfrm>
          <a:prstGeom prst="rect">
            <a:avLst/>
          </a:prstGeom>
          <a:noFill/>
          <a:ln>
            <a:noFill/>
          </a:ln>
        </p:spPr>
        <p:txBody>
          <a:bodyPr wrap="square" lIns="73152" tIns="73152" rIns="73152" bIns="73152" anchor="t">
            <a:noAutofit/>
          </a:bodyPr>
          <a:lstStyle/>
          <a:p>
            <a:pPr algn="ctr">
              <a:buNone/>
            </a:pPr>
            <a:r>
              <a:rPr lang="en-US" sz="3000" b="1" i="0" dirty="0">
                <a:solidFill>
                  <a:srgbClr val="E6EDF3"/>
                </a:solidFill>
                <a:latin typeface="Montserrat"/>
                <a:cs typeface="Montserrat"/>
              </a:rPr>
              <a:t>Thank you!</a:t>
            </a:r>
            <a:endParaRPr lang="en-US" sz="3000" dirty="0"/>
          </a:p>
        </p:txBody>
      </p:sp>
      <p:sp>
        <p:nvSpPr>
          <p:cNvPr id="10" name="Shape 10"/>
          <p:cNvSpPr/>
          <p:nvPr/>
        </p:nvSpPr>
        <p:spPr>
          <a:xfrm>
            <a:off x="685800" y="6419088"/>
            <a:ext cx="502920" cy="45720"/>
          </a:xfrm>
          <a:prstGeom prst="rect">
            <a:avLst/>
          </a:prstGeom>
          <a:solidFill>
            <a:srgbClr val="2DD4BF"/>
          </a:solidFill>
          <a:ln>
            <a:noFill/>
          </a:ln>
        </p:spPr>
        <p:txBody>
          <a:bodyPr/>
          <a:lstStyle/>
          <a:p>
            <a:endParaRPr lang="en-US"/>
          </a:p>
        </p:txBody>
      </p:sp>
      <p:sp>
        <p:nvSpPr>
          <p:cNvPr id="11" name="Text 11"/>
          <p:cNvSpPr txBox="1"/>
          <p:nvPr/>
        </p:nvSpPr>
        <p:spPr>
          <a:xfrm>
            <a:off x="1280160" y="6272784"/>
            <a:ext cx="5486400" cy="320040"/>
          </a:xfrm>
          <a:prstGeom prst="rect">
            <a:avLst/>
          </a:prstGeom>
          <a:noFill/>
          <a:ln>
            <a:noFill/>
          </a:ln>
        </p:spPr>
        <p:txBody>
          <a:bodyPr wrap="square" lIns="73152" tIns="73152" rIns="73152" bIns="73152" anchor="t">
            <a:noAutofit/>
          </a:bodyPr>
          <a:lstStyle/>
          <a:p>
            <a:pPr algn="l">
              <a:buNone/>
            </a:pPr>
            <a:r>
              <a:rPr lang="en-US" sz="1000" b="0" i="0" dirty="0">
                <a:solidFill>
                  <a:srgbClr val="9FB3C8"/>
                </a:solidFill>
                <a:latin typeface="Open Sans"/>
                <a:cs typeface="Open Sans"/>
              </a:rPr>
              <a:t>DataMon  ·  Hackachusetts  ·  Robotics &amp; Hardware</a:t>
            </a:r>
            <a:endParaRPr lang="en-US" sz="1000" dirty="0"/>
          </a:p>
        </p:txBody>
      </p:sp>
      <p:sp>
        <p:nvSpPr>
          <p:cNvPr id="12" name="Text 12"/>
          <p:cNvSpPr txBox="1"/>
          <p:nvPr/>
        </p:nvSpPr>
        <p:spPr>
          <a:xfrm>
            <a:off x="10607040" y="6272784"/>
            <a:ext cx="914400" cy="320040"/>
          </a:xfrm>
          <a:prstGeom prst="rect">
            <a:avLst/>
          </a:prstGeom>
          <a:noFill/>
          <a:ln>
            <a:noFill/>
          </a:ln>
        </p:spPr>
        <p:txBody>
          <a:bodyPr wrap="square" lIns="73152" tIns="73152" rIns="73152" bIns="73152" anchor="t">
            <a:noAutofit/>
          </a:bodyPr>
          <a:lstStyle/>
          <a:p>
            <a:pPr algn="r">
              <a:buNone/>
            </a:pPr>
            <a:r>
              <a:rPr lang="en-US" sz="1000" b="0" i="0" dirty="0">
                <a:solidFill>
                  <a:srgbClr val="9FB3C8"/>
                </a:solidFill>
                <a:latin typeface="Open Sans"/>
                <a:cs typeface="Open Sans"/>
              </a:rPr>
              <a:t>9</a:t>
            </a:r>
            <a:endParaRPr lang="en-US" sz="1000" dirty="0"/>
          </a:p>
        </p:txBody>
      </p:sp>
    </p:spTree>
  </p:cSld>
  <p:clrMapOvr>
    <a:masterClrMapping/>
  </p:clrMapOvr>
</p:sld>
</file>

<file path=ppt/theme/theme1.xml><?xml version="1.0" encoding="utf-8"?>
<a:theme xmlns:a="http://schemas.openxmlformats.org/drawingml/2006/main" name="DataMon">
  <a:themeElements>
    <a:clrScheme name="DataMon">
      <a:dk1>
        <a:srgbClr val="0E1117"/>
      </a:dk1>
      <a:lt1>
        <a:srgbClr val="FFFFFF"/>
      </a:lt1>
      <a:dk2>
        <a:srgbClr val="1A1F2B"/>
      </a:dk2>
      <a:lt2>
        <a:srgbClr val="E6EDF3"/>
      </a:lt2>
      <a:accent1>
        <a:srgbClr val="2DD4BF"/>
      </a:accent1>
      <a:accent2>
        <a:srgbClr val="0D9488"/>
      </a:accent2>
      <a:accent3>
        <a:srgbClr val="38BDF8"/>
      </a:accent3>
      <a:accent4>
        <a:srgbClr val="2E9E44"/>
      </a:accent4>
      <a:accent5>
        <a:srgbClr val="D9A400"/>
      </a:accent5>
      <a:accent6>
        <a:srgbClr val="D64545"/>
      </a:accent6>
      <a:hlink>
        <a:srgbClr val="2DD4BF"/>
      </a:hlink>
      <a:folHlink>
        <a:srgbClr val="99F6E4"/>
      </a:folHlink>
    </a:clrScheme>
    <a:fontScheme name="DataMon">
      <a:majorFont>
        <a:latin typeface="Montserrat"/>
        <a:ea typeface=""/>
        <a:cs typeface=""/>
      </a:majorFont>
      <a:minorFont>
        <a:latin typeface="Open Sans"/>
        <a:ea typeface=""/>
        <a:cs typeface=""/>
      </a:minorFont>
    </a:fontScheme>
    <a:fmtScheme name="DataMon">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name="DataMon">
  <a:themeElements>
    <a:clrScheme name="DataMon">
      <a:dk1>
        <a:srgbClr val="0E1117"/>
      </a:dk1>
      <a:lt1>
        <a:srgbClr val="FFFFFF"/>
      </a:lt1>
      <a:dk2>
        <a:srgbClr val="1A1F2B"/>
      </a:dk2>
      <a:lt2>
        <a:srgbClr val="E6EDF3"/>
      </a:lt2>
      <a:accent1>
        <a:srgbClr val="2DD4BF"/>
      </a:accent1>
      <a:accent2>
        <a:srgbClr val="0D9488"/>
      </a:accent2>
      <a:accent3>
        <a:srgbClr val="38BDF8"/>
      </a:accent3>
      <a:accent4>
        <a:srgbClr val="2E9E44"/>
      </a:accent4>
      <a:accent5>
        <a:srgbClr val="D9A400"/>
      </a:accent5>
      <a:accent6>
        <a:srgbClr val="D64545"/>
      </a:accent6>
      <a:hlink>
        <a:srgbClr val="2DD4BF"/>
      </a:hlink>
      <a:folHlink>
        <a:srgbClr val="99F6E4"/>
      </a:folHlink>
    </a:clrScheme>
    <a:fontScheme name="DataMon">
      <a:majorFont>
        <a:latin typeface="Montserrat"/>
        <a:ea typeface=""/>
        <a:cs typeface=""/>
      </a:majorFont>
      <a:minorFont>
        <a:latin typeface="Open Sans"/>
        <a:ea typeface=""/>
        <a:cs typeface=""/>
      </a:minorFont>
    </a:fontScheme>
    <a:fmtScheme name="DataMon">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DataMon build_slides.py</Application>
  <Slides>9</Slides>
</Properties>
</file>

<file path=docProps/core.xml><?xml version="1.0" encoding="utf-8"?>
<cp:coreProperties xmlns:cp="http://schemas.openxmlformats.org/package/2006/metadata/core-properties" xmlns:dc="http://purl.org/dc/elements/1.1/" xmlns:dcterms="http://purl.org/dc/terms/" xmlns:xsi="http://www.w3.org/2001/XMLSchema-instance">
  <dc:title>DataMon: a quality gate for robot training data</dc:title>
  <dc:creator>Ahmed Salah, Jesse Silva</dc:creator>
</cp:coreProperties>
</file>