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
    <p:sldId id="257" r:id="rId11"/>
    <p:sldId id="258" r:id="rId12"/>
    <p:sldId id="259" r:id="rId13"/>
    <p:sldId id="260" r:id="rId14"/>
    <p:sldId id="261" r:id="rId15"/>
    <p:sldId id="262" r:id="rId16"/>
    <p:sldId id="263" r:id="rId17"/>
    <p:sldId id="264" r:id="rId18"/>
  </p:sldIdLst>
  <p:sldSz cx="12191695"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dImg 2"/>
          <p:cNvSpPr/>
          <p:nvPr>
            <p:ph type="sldImg" idx="2"/>
          </p:nvPr>
        </p:nvSpPr>
        <p:spPr>
          <a:xfrm>
            <a:off x="381000" y="685800"/>
            <a:ext cx="6096000" cy="3429000"/>
          </a:xfrm>
          <a:prstGeom prst="rect">
            <a:avLst/>
          </a:prstGeom>
        </p:spPr>
        <p:txBody>
          <a:bodyPr/>
          <a:lstStyle/>
          <a:p>
            <a:endParaRPr lang="en-US"/>
          </a:p>
        </p:txBody>
      </p:sp>
      <p:sp>
        <p:nvSpPr>
          <p:cNvPr id="3" name="body 3"/>
          <p:cNvSpPr/>
          <p:nvPr>
            <p:ph type="body" idx="1"/>
          </p:nvPr>
        </p:nvSpPr>
        <p:spPr>
          <a:xfrm>
            <a:off x="685800" y="4343400"/>
            <a:ext cx="5486400" cy="4114800"/>
          </a:xfrm>
          <a:prstGeom prst="rect">
            <a:avLst/>
          </a:prstGeom>
        </p:spPr>
        <p:txBody>
          <a:bodyPr/>
          <a:lstStyle/>
          <a:p>
            <a:endParaRPr lang="en-US"/>
          </a:p>
        </p:txBody>
      </p:sp>
    </p:spTree>
  </p:cSld>
  <p:clrMap bg1="dk1" tx1="lt1" bg2="dk2" tx2="lt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[0:00-0:10] Hi, I'm Ahmed Salah. My teammate Jesse Silva and I built DataMon for the Robotics and Hardware track.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[0:10-0:20] Robots learn by copying recorded demonstrations. But a frozen sensor, a timing glitch, or a recording nobody labelled teaches the robot the wrong thing, and nobody notices until after an expensive training run.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[0:20-0:30] DataMon is a quality gate. Every recording gets a score from zero to a hundred, with reasons, and is accepted, held for a human, or quarantined. (Next: Kiro slide, then switch to the live demo.)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[0:30-0:52] We built it entirely with Kiro. Kiro Crew on my laptop set up the project, ran the tests, and shipped every feature as its own pull request. Kiro Web, in the cloud, couldn't install Streamlit, so it read Streamlit's source on GitHub and used the Playwright power to screenshot the UI before shipping. Specs and steering docs kept it consistent: twenty-one pull requests, a hundred and twenty-nine passing tests. (Then switch to the live demo: see VIDEO_SCRIPT.md, 0:52-2:42.)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[2:42-2:55] It reads the open LeRobot format, so it works with any dataset published that way. Good data in, bad data out. That's DataMon. Thanks for watching.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(BACKUP SLIDE, not in the video.) Four checks: integrity, labels, an unusualness rank against known-good recordings, then routing with an audit trail. The anomaly number is a rank, not a probability.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(BACKUP SLIDE, not in the video.) Narrated tour with captions and a pointing arrow, a grounded help assistant, a sound plus a colour-coded verdict on rejections, and reduced-motion support.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(BACKUP SLIDE, not in the video.) Labs, data-collection teams and dataset publishers. Reads any LeRobot dataset, streams from live robots, per-robot profiles and per-task baselines.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(BACKUP SLIDE, not in the video.) Live site and judge sign-in, for a live presentation or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pic>
        <p:nvPicPr>
          <p:cNvPr id="3" name="mascot.png"/>
          <p:cNvPicPr>
            <a:picLocks noChangeAspect="1"/>
          </p:cNvPicPr>
          <p:nvPr/>
        </p:nvPicPr>
        <p:blipFill>
          <a:blip r:embed="rId3"/>
          <a:stretch>
            <a:fillRect/>
          </a:stretch>
        </p:blipFill>
        <p:spPr>
          <a:xfrm>
            <a:off x="777240" y="1417320"/>
            <a:ext cx="2377440" cy="2377440"/>
          </a:xfrm>
          <a:prstGeom prst="rect">
            <a:avLst/>
          </a:prstGeom>
        </p:spPr>
      </p:pic>
      <p:sp>
        <p:nvSpPr>
          <p:cNvPr id="4" name="Text 4"/>
          <p:cNvSpPr txBox="1"/>
          <p:nvPr/>
        </p:nvSpPr>
        <p:spPr>
          <a:xfrm>
            <a:off x="3520440" y="1417320"/>
            <a:ext cx="8046720" cy="1188720"/>
          </a:xfrm>
          <a:prstGeom prst="rect">
            <a:avLst/>
          </a:prstGeom>
          <a:noFill/>
          <a:ln>
            <a:noFill/>
          </a:ln>
        </p:spPr>
        <p:txBody>
          <a:bodyPr wrap="square" lIns="73152" tIns="73152" rIns="73152" bIns="73152" anchor="t">
            <a:noAutofit/>
          </a:bodyPr>
          <a:lstStyle/>
          <a:p>
            <a:pPr algn="l">
              <a:buNone/>
            </a:pPr>
            <a:r>
              <a:rPr lang="en-US" sz="6600" b="1" i="0" dirty="0">
                <a:solidFill>
                  <a:srgbClr val="E6EDF3"/>
                </a:solidFill>
                <a:latin typeface="Montserrat"/>
                <a:cs typeface="Montserrat"/>
              </a:rPr>
              <a:t>Data</a:t>
            </a:r>
            <a:r>
              <a:rPr lang="en-US" sz="6600" b="1" i="0" dirty="0">
                <a:solidFill>
                  <a:srgbClr val="2DD4BF"/>
                </a:solidFill>
                <a:latin typeface="Montserrat"/>
                <a:cs typeface="Montserrat"/>
              </a:rPr>
              <a:t>Mon</a:t>
            </a:r>
            <a:endParaRPr lang="en-US" sz="6600" dirty="0"/>
          </a:p>
        </p:txBody>
      </p:sp>
      <p:sp>
        <p:nvSpPr>
          <p:cNvPr id="5" name="Text 5"/>
          <p:cNvSpPr txBox="1"/>
          <p:nvPr/>
        </p:nvSpPr>
        <p:spPr>
          <a:xfrm>
            <a:off x="3566160" y="2606040"/>
            <a:ext cx="7863840" cy="822960"/>
          </a:xfrm>
          <a:prstGeom prst="rect">
            <a:avLst/>
          </a:prstGeom>
          <a:noFill/>
          <a:ln>
            <a:noFill/>
          </a:ln>
        </p:spPr>
        <p:txBody>
          <a:bodyPr wrap="square" lIns="73152" tIns="73152" rIns="73152" bIns="73152" anchor="t">
            <a:noAutofit/>
          </a:bodyPr>
          <a:lstStyle/>
          <a:p>
            <a:pPr algn="l">
              <a:buNone/>
            </a:pPr>
            <a:r>
              <a:rPr lang="en-US" sz="2600" b="0" i="0" dirty="0">
                <a:solidFill>
                  <a:srgbClr val="E6EDF3"/>
                </a:solidFill>
                <a:latin typeface="Open Sans"/>
                <a:cs typeface="Open Sans"/>
              </a:rPr>
              <a:t>A quality gate for robot training data.</a:t>
            </a:r>
            <a:endParaRPr lang="en-US" sz="2600" dirty="0"/>
          </a:p>
        </p:txBody>
      </p:sp>
      <p:sp>
        <p:nvSpPr>
          <p:cNvPr id="6" name="Text 6"/>
          <p:cNvSpPr txBox="1"/>
          <p:nvPr/>
        </p:nvSpPr>
        <p:spPr>
          <a:xfrm>
            <a:off x="3566160" y="3200400"/>
            <a:ext cx="7863840" cy="548640"/>
          </a:xfrm>
          <a:prstGeom prst="rect">
            <a:avLst/>
          </a:prstGeom>
          <a:noFill/>
          <a:ln>
            <a:noFill/>
          </a:ln>
        </p:spPr>
        <p:txBody>
          <a:bodyPr wrap="square" lIns="73152" tIns="73152" rIns="73152" bIns="73152" anchor="t">
            <a:noAutofit/>
          </a:bodyPr>
          <a:lstStyle/>
          <a:p>
            <a:pPr algn="l">
              <a:buNone/>
            </a:pPr>
            <a:r>
              <a:rPr lang="en-US" sz="2000" b="0" i="1" dirty="0">
                <a:solidFill>
                  <a:srgbClr val="9FB3C8"/>
                </a:solidFill>
                <a:latin typeface="Open Sans"/>
                <a:cs typeface="Open Sans"/>
              </a:rPr>
              <a:t>Bad demonstrations stop here.</a:t>
            </a:r>
            <a:endParaRPr lang="en-US" sz="2000" dirty="0"/>
          </a:p>
        </p:txBody>
      </p:sp>
      <p:sp>
        <p:nvSpPr>
          <p:cNvPr id="7" name="Text 7"/>
          <p:cNvSpPr txBox="1"/>
          <p:nvPr/>
        </p:nvSpPr>
        <p:spPr>
          <a:xfrm>
            <a:off x="3566160" y="3977640"/>
            <a:ext cx="2788920" cy="384048"/>
          </a:xfrm>
          <a:prstGeom prst="roundRect">
            <a:avLst>
              <a:gd name="adj" fmla="val 8000"/>
            </a:avLst>
          </a:prstGeom>
          <a:solidFill>
            <a:srgbClr val="10262A"/>
          </a:solidFill>
          <a:ln w="15875">
            <a:solidFill>
              <a:srgbClr val="0D9488"/>
            </a:solidFill>
          </a:ln>
        </p:spPr>
        <p:txBody>
          <a:bodyPr wrap="square" lIns="36576" tIns="36576" rIns="36576" bIns="36576" anchor="ctr">
            <a:noAutofit/>
          </a:bodyPr>
          <a:lstStyle/>
          <a:p>
            <a:pPr algn="ctr">
              <a:buNone/>
            </a:pPr>
            <a:r>
              <a:rPr lang="en-US" sz="1100" b="1" i="0" dirty="0">
                <a:solidFill>
                  <a:srgbClr val="2DD4BF"/>
                </a:solidFill>
                <a:latin typeface="Montserrat"/>
                <a:cs typeface="Montserrat"/>
              </a:rPr>
              <a:t>ROBOTICS &amp; HARDWARE TRACK</a:t>
            </a:r>
            <a:endParaRPr lang="en-US" sz="1100" dirty="0"/>
          </a:p>
        </p:txBody>
      </p:sp>
      <p:sp>
        <p:nvSpPr>
          <p:cNvPr id="8" name="Text 8"/>
          <p:cNvSpPr txBox="1"/>
          <p:nvPr/>
        </p:nvSpPr>
        <p:spPr>
          <a:xfrm>
            <a:off x="6492240" y="3977640"/>
            <a:ext cx="2057400" cy="384048"/>
          </a:xfrm>
          <a:prstGeom prst="roundRect">
            <a:avLst>
              <a:gd name="adj" fmla="val 8000"/>
            </a:avLst>
          </a:prstGeom>
          <a:solidFill>
            <a:srgbClr val="10262A"/>
          </a:solidFill>
          <a:ln w="15875">
            <a:solidFill>
              <a:srgbClr val="0D9488"/>
            </a:solidFill>
          </a:ln>
        </p:spPr>
        <p:txBody>
          <a:bodyPr wrap="square" lIns="36576" tIns="36576" rIns="36576" bIns="36576" anchor="ctr">
            <a:noAutofit/>
          </a:bodyPr>
          <a:lstStyle/>
          <a:p>
            <a:pPr algn="ctr">
              <a:buNone/>
            </a:pPr>
            <a:r>
              <a:rPr lang="en-US" sz="1100" b="1" i="0" dirty="0">
                <a:solidFill>
                  <a:srgbClr val="2DD4BF"/>
                </a:solidFill>
                <a:latin typeface="Montserrat"/>
                <a:cs typeface="Montserrat"/>
              </a:rPr>
              <a:t>HACKACHUSETTS</a:t>
            </a:r>
            <a:endParaRPr lang="en-US" sz="1100" dirty="0"/>
          </a:p>
        </p:txBody>
      </p:sp>
      <p:sp>
        <p:nvSpPr>
          <p:cNvPr id="9" name="Text 9"/>
          <p:cNvSpPr txBox="1"/>
          <p:nvPr/>
        </p:nvSpPr>
        <p:spPr>
          <a:xfrm>
            <a:off x="8686800" y="3977640"/>
            <a:ext cx="2057400" cy="384048"/>
          </a:xfrm>
          <a:prstGeom prst="roundRect">
            <a:avLst>
              <a:gd name="adj" fmla="val 8000"/>
            </a:avLst>
          </a:prstGeom>
          <a:solidFill>
            <a:srgbClr val="10262A"/>
          </a:solidFill>
          <a:ln w="15875">
            <a:solidFill>
              <a:srgbClr val="0D9488"/>
            </a:solidFill>
          </a:ln>
        </p:spPr>
        <p:txBody>
          <a:bodyPr wrap="square" lIns="36576" tIns="36576" rIns="36576" bIns="36576" anchor="ctr">
            <a:noAutofit/>
          </a:bodyPr>
          <a:lstStyle/>
          <a:p>
            <a:pPr algn="ctr">
              <a:buNone/>
            </a:pPr>
            <a:r>
              <a:rPr lang="en-US" sz="1100" b="1" i="0" dirty="0">
                <a:solidFill>
                  <a:srgbClr val="2DD4BF"/>
                </a:solidFill>
                <a:latin typeface="Montserrat"/>
                <a:cs typeface="Montserrat"/>
              </a:rPr>
              <a:t>BUILT WITH KIRO</a:t>
            </a:r>
            <a:endParaRPr lang="en-US" sz="1100" dirty="0"/>
          </a:p>
        </p:txBody>
      </p:sp>
      <p:sp>
        <p:nvSpPr>
          <p:cNvPr id="10" name="Text 10"/>
          <p:cNvSpPr txBox="1"/>
          <p:nvPr/>
        </p:nvSpPr>
        <p:spPr>
          <a:xfrm>
            <a:off x="777240" y="5257800"/>
            <a:ext cx="10607040" cy="457200"/>
          </a:xfrm>
          <a:prstGeom prst="rect">
            <a:avLst/>
          </a:prstGeom>
          <a:noFill/>
          <a:ln>
            <a:noFill/>
          </a:ln>
        </p:spPr>
        <p:txBody>
          <a:bodyPr wrap="square" lIns="73152" tIns="73152" rIns="73152" bIns="73152" anchor="t">
            <a:noAutofit/>
          </a:bodyPr>
          <a:lstStyle/>
          <a:p>
            <a:pPr algn="l">
              <a:buNone/>
            </a:pPr>
            <a:r>
              <a:rPr lang="en-US" sz="1500" b="1" i="0" dirty="0">
                <a:solidFill>
                  <a:srgbClr val="9FB3C8"/>
                </a:solidFill>
                <a:latin typeface="Open Sans"/>
                <a:cs typeface="Open Sans"/>
              </a:rPr>
              <a:t>Team:  </a:t>
            </a:r>
            <a:r>
              <a:rPr lang="en-US" sz="1500" b="0" i="0" dirty="0">
                <a:solidFill>
                  <a:srgbClr val="E6EDF3"/>
                </a:solidFill>
                <a:latin typeface="Open Sans"/>
                <a:cs typeface="Open Sans"/>
              </a:rPr>
              <a:t>Ahmed Salah  ·  Jesse Silva</a:t>
            </a:r>
            <a:endParaRPr lang="en-US" sz="1500" dirty="0"/>
          </a:p>
        </p:txBody>
      </p:sp>
      <p:sp>
        <p:nvSpPr>
          <p:cNvPr id="11" name="Text 11"/>
          <p:cNvSpPr txBox="1"/>
          <p:nvPr/>
        </p:nvSpPr>
        <p:spPr>
          <a:xfrm>
            <a:off x="777240" y="5669280"/>
            <a:ext cx="10607040" cy="457200"/>
          </a:xfrm>
          <a:prstGeom prst="rect">
            <a:avLst/>
          </a:prstGeom>
          <a:noFill/>
          <a:ln>
            <a:noFill/>
          </a:ln>
        </p:spPr>
        <p:txBody>
          <a:bodyPr wrap="square" lIns="73152" tIns="73152" rIns="73152" bIns="73152" anchor="t">
            <a:noAutofit/>
          </a:bodyPr>
          <a:lstStyle/>
          <a:p>
            <a:pPr algn="l">
              <a:buNone/>
            </a:pPr>
            <a:r>
              <a:rPr lang="en-US" sz="1500" b="0" i="0" dirty="0">
                <a:solidFill>
                  <a:srgbClr val="2DD4BF"/>
                </a:solidFill>
                <a:latin typeface="Open Sans"/>
                <a:cs typeface="Open Sans"/>
              </a:rPr>
              <a:t>hackachusetts-datamon.streamlit.app</a:t>
            </a:r>
            <a:endParaRPr lang="en-US" sz="1500" dirty="0"/>
          </a:p>
        </p:txBody>
      </p:sp>
      <p:pic>
        <p:nvPicPr>
          <p:cNvPr id="12" name="car.png"/>
          <p:cNvPicPr>
            <a:picLocks noChangeAspect="1"/>
          </p:cNvPicPr>
          <p:nvPr/>
        </p:nvPicPr>
        <p:blipFill>
          <a:blip r:embed="rId4"/>
          <a:stretch>
            <a:fillRect/>
          </a:stretch>
        </p:blipFill>
        <p:spPr>
          <a:xfrm>
            <a:off x="10424160" y="5715000"/>
            <a:ext cx="822960" cy="7543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THE PROBLEM</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Bad robot data fails silently</a:t>
            </a:r>
            <a:endParaRPr lang="en-US" sz="3400" dirty="0"/>
          </a:p>
        </p:txBody>
      </p:sp>
      <p:sp>
        <p:nvSpPr>
          <p:cNvPr id="5" name="Shape 5"/>
          <p:cNvSpPr/>
          <p:nvPr/>
        </p:nvSpPr>
        <p:spPr>
          <a:xfrm>
            <a:off x="685800" y="2011680"/>
            <a:ext cx="3429000" cy="2377440"/>
          </a:xfrm>
          <a:prstGeom prst="roundRect">
            <a:avLst>
              <a:gd name="adj" fmla="val 10000"/>
            </a:avLst>
          </a:prstGeom>
          <a:solidFill>
            <a:srgbClr val="151C26"/>
          </a:solidFill>
          <a:ln w="15875">
            <a:solidFill>
              <a:srgbClr val="23414A"/>
            </a:solidFill>
          </a:ln>
        </p:spPr>
        <p:txBody>
          <a:bodyPr/>
          <a:lstStyle/>
          <a:p>
            <a:endParaRPr lang="en-US"/>
          </a:p>
        </p:txBody>
      </p:sp>
      <p:sp>
        <p:nvSpPr>
          <p:cNvPr id="6" name="Shape 6"/>
          <p:cNvSpPr/>
          <p:nvPr/>
        </p:nvSpPr>
        <p:spPr>
          <a:xfrm>
            <a:off x="685800" y="2176272"/>
            <a:ext cx="64008" cy="2048256"/>
          </a:xfrm>
          <a:prstGeom prst="rect">
            <a:avLst/>
          </a:prstGeom>
          <a:solidFill>
            <a:srgbClr val="D64545"/>
          </a:solidFill>
          <a:ln>
            <a:noFill/>
          </a:ln>
        </p:spPr>
        <p:txBody>
          <a:bodyPr/>
          <a:lstStyle/>
          <a:p>
            <a:endParaRPr lang="en-US"/>
          </a:p>
        </p:txBody>
      </p:sp>
      <p:sp>
        <p:nvSpPr>
          <p:cNvPr id="7" name="Text 7"/>
          <p:cNvSpPr txBox="1"/>
          <p:nvPr/>
        </p:nvSpPr>
        <p:spPr>
          <a:xfrm>
            <a:off x="914400" y="214884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D64545"/>
                </a:solidFill>
                <a:latin typeface="Montserrat"/>
                <a:cs typeface="Montserrat"/>
              </a:rPr>
              <a:t>Sensor &amp; timing faults</a:t>
            </a:r>
            <a:endParaRPr lang="en-US" sz="1800" dirty="0"/>
          </a:p>
        </p:txBody>
      </p:sp>
      <p:sp>
        <p:nvSpPr>
          <p:cNvPr id="8" name="Text 8"/>
          <p:cNvSpPr txBox="1"/>
          <p:nvPr/>
        </p:nvSpPr>
        <p:spPr>
          <a:xfrm>
            <a:off x="914400" y="2578608"/>
            <a:ext cx="3063240" cy="169164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Frozen readings, dropped frames, glitchy timestamps and impossible values slip into datasets.</a:t>
            </a:r>
            <a:endParaRPr lang="en-US" sz="1350" dirty="0"/>
          </a:p>
        </p:txBody>
      </p:sp>
      <p:sp>
        <p:nvSpPr>
          <p:cNvPr id="9" name="Shape 9"/>
          <p:cNvSpPr/>
          <p:nvPr/>
        </p:nvSpPr>
        <p:spPr>
          <a:xfrm>
            <a:off x="4343400" y="2011680"/>
            <a:ext cx="3429000" cy="2377440"/>
          </a:xfrm>
          <a:prstGeom prst="roundRect">
            <a:avLst>
              <a:gd name="adj" fmla="val 10000"/>
            </a:avLst>
          </a:prstGeom>
          <a:solidFill>
            <a:srgbClr val="151C26"/>
          </a:solidFill>
          <a:ln w="15875">
            <a:solidFill>
              <a:srgbClr val="23414A"/>
            </a:solidFill>
          </a:ln>
        </p:spPr>
        <p:txBody>
          <a:bodyPr/>
          <a:lstStyle/>
          <a:p>
            <a:endParaRPr lang="en-US"/>
          </a:p>
        </p:txBody>
      </p:sp>
      <p:sp>
        <p:nvSpPr>
          <p:cNvPr id="10" name="Shape 10"/>
          <p:cNvSpPr/>
          <p:nvPr/>
        </p:nvSpPr>
        <p:spPr>
          <a:xfrm>
            <a:off x="4343400" y="2176272"/>
            <a:ext cx="64008" cy="2048256"/>
          </a:xfrm>
          <a:prstGeom prst="rect">
            <a:avLst/>
          </a:prstGeom>
          <a:solidFill>
            <a:srgbClr val="D9A400"/>
          </a:solidFill>
          <a:ln>
            <a:noFill/>
          </a:ln>
        </p:spPr>
        <p:txBody>
          <a:bodyPr/>
          <a:lstStyle/>
          <a:p>
            <a:endParaRPr lang="en-US"/>
          </a:p>
        </p:txBody>
      </p:sp>
      <p:sp>
        <p:nvSpPr>
          <p:cNvPr id="11" name="Text 11"/>
          <p:cNvSpPr txBox="1"/>
          <p:nvPr/>
        </p:nvSpPr>
        <p:spPr>
          <a:xfrm>
            <a:off x="4572000" y="214884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D9A400"/>
                </a:solidFill>
                <a:latin typeface="Montserrat"/>
                <a:cs typeface="Montserrat"/>
              </a:rPr>
              <a:t>Missing or nonsense labels</a:t>
            </a:r>
            <a:endParaRPr lang="en-US" sz="1800" dirty="0"/>
          </a:p>
        </p:txBody>
      </p:sp>
      <p:sp>
        <p:nvSpPr>
          <p:cNvPr id="12" name="Text 12"/>
          <p:cNvSpPr txBox="1"/>
          <p:nvPr/>
        </p:nvSpPr>
        <p:spPr>
          <a:xfrm>
            <a:off x="4572000" y="2578608"/>
            <a:ext cx="3063240" cy="169164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A demonstration the robot was never told the point of teaches it nothing useful.</a:t>
            </a:r>
            <a:endParaRPr lang="en-US" sz="1350" dirty="0"/>
          </a:p>
        </p:txBody>
      </p:sp>
      <p:sp>
        <p:nvSpPr>
          <p:cNvPr id="13" name="Shape 13"/>
          <p:cNvSpPr/>
          <p:nvPr/>
        </p:nvSpPr>
        <p:spPr>
          <a:xfrm>
            <a:off x="8001000" y="2011680"/>
            <a:ext cx="3429000" cy="2377440"/>
          </a:xfrm>
          <a:prstGeom prst="roundRect">
            <a:avLst>
              <a:gd name="adj" fmla="val 10000"/>
            </a:avLst>
          </a:prstGeom>
          <a:solidFill>
            <a:srgbClr val="151C26"/>
          </a:solidFill>
          <a:ln w="15875">
            <a:solidFill>
              <a:srgbClr val="23414A"/>
            </a:solidFill>
          </a:ln>
        </p:spPr>
        <p:txBody>
          <a:bodyPr/>
          <a:lstStyle/>
          <a:p>
            <a:endParaRPr lang="en-US"/>
          </a:p>
        </p:txBody>
      </p:sp>
      <p:sp>
        <p:nvSpPr>
          <p:cNvPr id="14" name="Shape 14"/>
          <p:cNvSpPr/>
          <p:nvPr/>
        </p:nvSpPr>
        <p:spPr>
          <a:xfrm>
            <a:off x="8001000" y="2176272"/>
            <a:ext cx="64008" cy="2048256"/>
          </a:xfrm>
          <a:prstGeom prst="rect">
            <a:avLst/>
          </a:prstGeom>
          <a:solidFill>
            <a:srgbClr val="2DD4BF"/>
          </a:solidFill>
          <a:ln>
            <a:noFill/>
          </a:ln>
        </p:spPr>
        <p:txBody>
          <a:bodyPr/>
          <a:lstStyle/>
          <a:p>
            <a:endParaRPr lang="en-US"/>
          </a:p>
        </p:txBody>
      </p:sp>
      <p:sp>
        <p:nvSpPr>
          <p:cNvPr id="15" name="Text 15"/>
          <p:cNvSpPr txBox="1"/>
          <p:nvPr/>
        </p:nvSpPr>
        <p:spPr>
          <a:xfrm>
            <a:off x="8229600" y="214884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Found too late</a:t>
            </a:r>
            <a:endParaRPr lang="en-US" sz="1800" dirty="0"/>
          </a:p>
        </p:txBody>
      </p:sp>
      <p:sp>
        <p:nvSpPr>
          <p:cNvPr id="16" name="Text 16"/>
          <p:cNvSpPr txBox="1"/>
          <p:nvPr/>
        </p:nvSpPr>
        <p:spPr>
          <a:xfrm>
            <a:off x="8229600" y="2578608"/>
            <a:ext cx="3063240" cy="169164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Problems usually surface after an expensive training run, when the data is hardest to fix or recollect.</a:t>
            </a:r>
            <a:endParaRPr lang="en-US" sz="1350" dirty="0"/>
          </a:p>
        </p:txBody>
      </p:sp>
      <p:sp>
        <p:nvSpPr>
          <p:cNvPr id="17" name="Text 17"/>
          <p:cNvSpPr txBox="1"/>
          <p:nvPr/>
        </p:nvSpPr>
        <p:spPr>
          <a:xfrm>
            <a:off x="685800" y="4800600"/>
            <a:ext cx="10789920" cy="1097280"/>
          </a:xfrm>
          <a:prstGeom prst="rect">
            <a:avLst/>
          </a:prstGeom>
          <a:noFill/>
          <a:ln>
            <a:noFill/>
          </a:ln>
        </p:spPr>
        <p:txBody>
          <a:bodyPr wrap="square" lIns="73152" tIns="73152" rIns="73152" bIns="73152" anchor="t">
            <a:noAutofit/>
          </a:bodyPr>
          <a:lstStyle/>
          <a:p>
            <a:pPr algn="l">
              <a:buNone/>
            </a:pPr>
            <a:r>
              <a:rPr lang="en-US" sz="2200" b="1" i="0" dirty="0">
                <a:solidFill>
                  <a:srgbClr val="E6EDF3"/>
                </a:solidFill>
                <a:latin typeface="Montserrat"/>
                <a:cs typeface="Montserrat"/>
              </a:rPr>
              <a:t>Garbage in, garbage out.  </a:t>
            </a:r>
            <a:r>
              <a:rPr lang="en-US" sz="2000" b="0" i="1" dirty="0">
                <a:solidFill>
                  <a:srgbClr val="9FB3C8"/>
                </a:solidFill>
                <a:latin typeface="Open Sans"/>
                <a:cs typeface="Open Sans"/>
              </a:rPr>
              <a:t>Except here, the garbage learns to drive a robot arm.</a:t>
            </a:r>
            <a:endParaRPr lang="en-US" sz="2000" dirty="0"/>
          </a:p>
        </p:txBody>
      </p:sp>
      <p:sp>
        <p:nvSpPr>
          <p:cNvPr id="18" name="Shape 18"/>
          <p:cNvSpPr/>
          <p:nvPr/>
        </p:nvSpPr>
        <p:spPr>
          <a:xfrm>
            <a:off x="685800" y="6419088"/>
            <a:ext cx="502920" cy="45720"/>
          </a:xfrm>
          <a:prstGeom prst="rect">
            <a:avLst/>
          </a:prstGeom>
          <a:solidFill>
            <a:srgbClr val="2DD4BF"/>
          </a:solidFill>
          <a:ln>
            <a:noFill/>
          </a:ln>
        </p:spPr>
        <p:txBody>
          <a:bodyPr/>
          <a:lstStyle/>
          <a:p>
            <a:endParaRPr lang="en-US"/>
          </a:p>
        </p:txBody>
      </p:sp>
      <p:sp>
        <p:nvSpPr>
          <p:cNvPr id="19" name="Text 19"/>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0" name="Text 20"/>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THE SOLUTION</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Every recording is scored, explained and routed</a:t>
            </a:r>
            <a:endParaRPr lang="en-US" sz="3400" dirty="0"/>
          </a:p>
        </p:txBody>
      </p:sp>
      <p:sp>
        <p:nvSpPr>
          <p:cNvPr id="5" name="Text 5"/>
          <p:cNvSpPr txBox="1"/>
          <p:nvPr/>
        </p:nvSpPr>
        <p:spPr>
          <a:xfrm>
            <a:off x="685800" y="1691640"/>
            <a:ext cx="10789920" cy="548640"/>
          </a:xfrm>
          <a:prstGeom prst="rect">
            <a:avLst/>
          </a:prstGeom>
          <a:noFill/>
          <a:ln>
            <a:noFill/>
          </a:ln>
        </p:spPr>
        <p:txBody>
          <a:bodyPr wrap="square" lIns="73152" tIns="73152" rIns="73152" bIns="73152" anchor="t">
            <a:noAutofit/>
          </a:bodyPr>
          <a:lstStyle/>
          <a:p>
            <a:pPr algn="l">
              <a:buNone/>
            </a:pPr>
            <a:r>
              <a:rPr lang="en-US" sz="1700" b="0" i="0" dirty="0">
                <a:solidFill>
                  <a:srgbClr val="9FB3C8"/>
                </a:solidFill>
                <a:latin typeface="Open Sans"/>
                <a:cs typeface="Open Sans"/>
              </a:rPr>
              <a:t>One score from 0 to 100, with the reasons behind it. The thresholds are yours to set.</a:t>
            </a:r>
            <a:endParaRPr lang="en-US" sz="1700" dirty="0"/>
          </a:p>
        </p:txBody>
      </p:sp>
      <p:sp>
        <p:nvSpPr>
          <p:cNvPr id="6" name="Shape 6"/>
          <p:cNvSpPr/>
          <p:nvPr/>
        </p:nvSpPr>
        <p:spPr>
          <a:xfrm>
            <a:off x="685800" y="2514600"/>
            <a:ext cx="3429000" cy="2651760"/>
          </a:xfrm>
          <a:prstGeom prst="roundRect">
            <a:avLst>
              <a:gd name="adj" fmla="val 10000"/>
            </a:avLst>
          </a:prstGeom>
          <a:solidFill>
            <a:srgbClr val="151C26"/>
          </a:solidFill>
          <a:ln w="15875">
            <a:solidFill>
              <a:srgbClr val="2E9E44"/>
            </a:solidFill>
          </a:ln>
        </p:spPr>
        <p:txBody>
          <a:bodyPr/>
          <a:lstStyle/>
          <a:p>
            <a:endParaRPr lang="en-US"/>
          </a:p>
        </p:txBody>
      </p:sp>
      <p:sp>
        <p:nvSpPr>
          <p:cNvPr id="7" name="Text 7"/>
          <p:cNvSpPr txBox="1"/>
          <p:nvPr/>
        </p:nvSpPr>
        <p:spPr>
          <a:xfrm>
            <a:off x="685800" y="2697480"/>
            <a:ext cx="3429000" cy="640080"/>
          </a:xfrm>
          <a:prstGeom prst="rect">
            <a:avLst/>
          </a:prstGeom>
          <a:noFill/>
          <a:ln>
            <a:noFill/>
          </a:ln>
        </p:spPr>
        <p:txBody>
          <a:bodyPr wrap="square" lIns="73152" tIns="73152" rIns="73152" bIns="73152" anchor="t">
            <a:noAutofit/>
          </a:bodyPr>
          <a:lstStyle/>
          <a:p>
            <a:pPr algn="ctr">
              <a:buNone/>
            </a:pPr>
            <a:r>
              <a:rPr lang="en-US" sz="3000" b="1" i="0" dirty="0">
                <a:solidFill>
                  <a:srgbClr val="2E9E44"/>
                </a:solidFill>
                <a:latin typeface="Montserrat"/>
                <a:cs typeface="Montserrat"/>
              </a:rPr>
              <a:t>ACCEPT</a:t>
            </a:r>
            <a:endParaRPr lang="en-US" sz="3000" dirty="0"/>
          </a:p>
        </p:txBody>
      </p:sp>
      <p:sp>
        <p:nvSpPr>
          <p:cNvPr id="8" name="Text 8"/>
          <p:cNvSpPr txBox="1"/>
          <p:nvPr/>
        </p:nvSpPr>
        <p:spPr>
          <a:xfrm>
            <a:off x="868680" y="3474720"/>
            <a:ext cx="3063240" cy="457200"/>
          </a:xfrm>
          <a:prstGeom prst="rect">
            <a:avLst/>
          </a:prstGeom>
          <a:noFill/>
          <a:ln>
            <a:noFill/>
          </a:ln>
        </p:spPr>
        <p:txBody>
          <a:bodyPr wrap="square" lIns="73152" tIns="73152" rIns="73152" bIns="73152" anchor="t">
            <a:noAutofit/>
          </a:bodyPr>
          <a:lstStyle/>
          <a:p>
            <a:pPr algn="ctr">
              <a:buNone/>
            </a:pPr>
            <a:r>
              <a:rPr lang="en-US" sz="1800" b="1" i="0" dirty="0">
                <a:solidFill>
                  <a:srgbClr val="E6EDF3"/>
                </a:solidFill>
                <a:latin typeface="Open Sans"/>
                <a:cs typeface="Open Sans"/>
              </a:rPr>
              <a:t>Clean staging store</a:t>
            </a:r>
            <a:endParaRPr lang="en-US" sz="1800" dirty="0"/>
          </a:p>
        </p:txBody>
      </p:sp>
      <p:sp>
        <p:nvSpPr>
          <p:cNvPr id="9" name="Text 9"/>
          <p:cNvSpPr txBox="1"/>
          <p:nvPr/>
        </p:nvSpPr>
        <p:spPr>
          <a:xfrm>
            <a:off x="868680" y="3977640"/>
            <a:ext cx="3063240" cy="914400"/>
          </a:xfrm>
          <a:prstGeom prst="rect">
            <a:avLst/>
          </a:prstGeom>
          <a:noFill/>
          <a:ln>
            <a:noFill/>
          </a:ln>
        </p:spPr>
        <p:txBody>
          <a:bodyPr wrap="square" lIns="73152" tIns="73152" rIns="73152" bIns="73152" anchor="t">
            <a:noAutofit/>
          </a:bodyPr>
          <a:lstStyle/>
          <a:p>
            <a:pPr algn="ctr">
              <a:buNone/>
            </a:pPr>
            <a:r>
              <a:rPr lang="en-US" sz="1400" b="0" i="0" dirty="0">
                <a:solidFill>
                  <a:srgbClr val="9FB3C8"/>
                </a:solidFill>
                <a:latin typeface="Open Sans"/>
                <a:cs typeface="Open Sans"/>
              </a:rPr>
              <a:t>Ready for training.</a:t>
            </a:r>
            <a:endParaRPr lang="en-US" sz="1400" dirty="0"/>
          </a:p>
        </p:txBody>
      </p:sp>
      <p:sp>
        <p:nvSpPr>
          <p:cNvPr id="10" name="Shape 10"/>
          <p:cNvSpPr/>
          <p:nvPr/>
        </p:nvSpPr>
        <p:spPr>
          <a:xfrm>
            <a:off x="4343400" y="2514600"/>
            <a:ext cx="3429000" cy="2651760"/>
          </a:xfrm>
          <a:prstGeom prst="roundRect">
            <a:avLst>
              <a:gd name="adj" fmla="val 10000"/>
            </a:avLst>
          </a:prstGeom>
          <a:solidFill>
            <a:srgbClr val="151C26"/>
          </a:solidFill>
          <a:ln w="15875">
            <a:solidFill>
              <a:srgbClr val="D9A400"/>
            </a:solidFill>
          </a:ln>
        </p:spPr>
        <p:txBody>
          <a:bodyPr/>
          <a:lstStyle/>
          <a:p>
            <a:endParaRPr lang="en-US"/>
          </a:p>
        </p:txBody>
      </p:sp>
      <p:sp>
        <p:nvSpPr>
          <p:cNvPr id="11" name="Text 11"/>
          <p:cNvSpPr txBox="1"/>
          <p:nvPr/>
        </p:nvSpPr>
        <p:spPr>
          <a:xfrm>
            <a:off x="4343400" y="2697480"/>
            <a:ext cx="3429000" cy="640080"/>
          </a:xfrm>
          <a:prstGeom prst="rect">
            <a:avLst/>
          </a:prstGeom>
          <a:noFill/>
          <a:ln>
            <a:noFill/>
          </a:ln>
        </p:spPr>
        <p:txBody>
          <a:bodyPr wrap="square" lIns="73152" tIns="73152" rIns="73152" bIns="73152" anchor="t">
            <a:noAutofit/>
          </a:bodyPr>
          <a:lstStyle/>
          <a:p>
            <a:pPr algn="ctr">
              <a:buNone/>
            </a:pPr>
            <a:r>
              <a:rPr lang="en-US" sz="3000" b="1" i="0" dirty="0">
                <a:solidFill>
                  <a:srgbClr val="D9A400"/>
                </a:solidFill>
                <a:latin typeface="Montserrat"/>
                <a:cs typeface="Montserrat"/>
              </a:rPr>
              <a:t>REVIEW</a:t>
            </a:r>
            <a:endParaRPr lang="en-US" sz="3000" dirty="0"/>
          </a:p>
        </p:txBody>
      </p:sp>
      <p:sp>
        <p:nvSpPr>
          <p:cNvPr id="12" name="Text 12"/>
          <p:cNvSpPr txBox="1"/>
          <p:nvPr/>
        </p:nvSpPr>
        <p:spPr>
          <a:xfrm>
            <a:off x="4526280" y="3474720"/>
            <a:ext cx="3063240" cy="457200"/>
          </a:xfrm>
          <a:prstGeom prst="rect">
            <a:avLst/>
          </a:prstGeom>
          <a:noFill/>
          <a:ln>
            <a:noFill/>
          </a:ln>
        </p:spPr>
        <p:txBody>
          <a:bodyPr wrap="square" lIns="73152" tIns="73152" rIns="73152" bIns="73152" anchor="t">
            <a:noAutofit/>
          </a:bodyPr>
          <a:lstStyle/>
          <a:p>
            <a:pPr algn="ctr">
              <a:buNone/>
            </a:pPr>
            <a:r>
              <a:rPr lang="en-US" sz="1800" b="1" i="0" dirty="0">
                <a:solidFill>
                  <a:srgbClr val="E6EDF3"/>
                </a:solidFill>
                <a:latin typeface="Open Sans"/>
                <a:cs typeface="Open Sans"/>
              </a:rPr>
              <a:t>Held for a human</a:t>
            </a:r>
            <a:endParaRPr lang="en-US" sz="1800" dirty="0"/>
          </a:p>
        </p:txBody>
      </p:sp>
      <p:sp>
        <p:nvSpPr>
          <p:cNvPr id="13" name="Text 13"/>
          <p:cNvSpPr txBox="1"/>
          <p:nvPr/>
        </p:nvSpPr>
        <p:spPr>
          <a:xfrm>
            <a:off x="4526280" y="3977640"/>
            <a:ext cx="3063240" cy="914400"/>
          </a:xfrm>
          <a:prstGeom prst="rect">
            <a:avLst/>
          </a:prstGeom>
          <a:noFill/>
          <a:ln>
            <a:noFill/>
          </a:ln>
        </p:spPr>
        <p:txBody>
          <a:bodyPr wrap="square" lIns="73152" tIns="73152" rIns="73152" bIns="73152" anchor="t">
            <a:noAutofit/>
          </a:bodyPr>
          <a:lstStyle/>
          <a:p>
            <a:pPr algn="ctr">
              <a:buNone/>
            </a:pPr>
            <a:r>
              <a:rPr lang="en-US" sz="1400" b="0" i="0" dirty="0">
                <a:solidFill>
                  <a:srgbClr val="9FB3C8"/>
                </a:solidFill>
                <a:latin typeface="Open Sans"/>
                <a:cs typeface="Open Sans"/>
              </a:rPr>
              <a:t>The gate isn't sure, so it asks.</a:t>
            </a:r>
            <a:endParaRPr lang="en-US" sz="1400" dirty="0"/>
          </a:p>
        </p:txBody>
      </p:sp>
      <p:sp>
        <p:nvSpPr>
          <p:cNvPr id="14" name="Shape 14"/>
          <p:cNvSpPr/>
          <p:nvPr/>
        </p:nvSpPr>
        <p:spPr>
          <a:xfrm>
            <a:off x="8001000" y="2514600"/>
            <a:ext cx="3429000" cy="2651760"/>
          </a:xfrm>
          <a:prstGeom prst="roundRect">
            <a:avLst>
              <a:gd name="adj" fmla="val 10000"/>
            </a:avLst>
          </a:prstGeom>
          <a:solidFill>
            <a:srgbClr val="151C26"/>
          </a:solidFill>
          <a:ln w="15875">
            <a:solidFill>
              <a:srgbClr val="D64545"/>
            </a:solidFill>
          </a:ln>
        </p:spPr>
        <p:txBody>
          <a:bodyPr/>
          <a:lstStyle/>
          <a:p>
            <a:endParaRPr lang="en-US"/>
          </a:p>
        </p:txBody>
      </p:sp>
      <p:sp>
        <p:nvSpPr>
          <p:cNvPr id="15" name="Text 15"/>
          <p:cNvSpPr txBox="1"/>
          <p:nvPr/>
        </p:nvSpPr>
        <p:spPr>
          <a:xfrm>
            <a:off x="8001000" y="2697480"/>
            <a:ext cx="3429000" cy="640080"/>
          </a:xfrm>
          <a:prstGeom prst="rect">
            <a:avLst/>
          </a:prstGeom>
          <a:noFill/>
          <a:ln>
            <a:noFill/>
          </a:ln>
        </p:spPr>
        <p:txBody>
          <a:bodyPr wrap="square" lIns="73152" tIns="73152" rIns="73152" bIns="73152" anchor="t">
            <a:noAutofit/>
          </a:bodyPr>
          <a:lstStyle/>
          <a:p>
            <a:pPr algn="ctr">
              <a:buNone/>
            </a:pPr>
            <a:r>
              <a:rPr lang="en-US" sz="3000" b="1" i="0" dirty="0">
                <a:solidFill>
                  <a:srgbClr val="D64545"/>
                </a:solidFill>
                <a:latin typeface="Montserrat"/>
                <a:cs typeface="Montserrat"/>
              </a:rPr>
              <a:t>REJECT</a:t>
            </a:r>
            <a:endParaRPr lang="en-US" sz="3000" dirty="0"/>
          </a:p>
        </p:txBody>
      </p:sp>
      <p:sp>
        <p:nvSpPr>
          <p:cNvPr id="16" name="Text 16"/>
          <p:cNvSpPr txBox="1"/>
          <p:nvPr/>
        </p:nvSpPr>
        <p:spPr>
          <a:xfrm>
            <a:off x="8183880" y="3474720"/>
            <a:ext cx="3063240" cy="457200"/>
          </a:xfrm>
          <a:prstGeom prst="rect">
            <a:avLst/>
          </a:prstGeom>
          <a:noFill/>
          <a:ln>
            <a:noFill/>
          </a:ln>
        </p:spPr>
        <p:txBody>
          <a:bodyPr wrap="square" lIns="73152" tIns="73152" rIns="73152" bIns="73152" anchor="t">
            <a:noAutofit/>
          </a:bodyPr>
          <a:lstStyle/>
          <a:p>
            <a:pPr algn="ctr">
              <a:buNone/>
            </a:pPr>
            <a:r>
              <a:rPr lang="en-US" sz="1800" b="1" i="0" dirty="0">
                <a:solidFill>
                  <a:srgbClr val="E6EDF3"/>
                </a:solidFill>
                <a:latin typeface="Open Sans"/>
                <a:cs typeface="Open Sans"/>
              </a:rPr>
              <a:t>Quarantined</a:t>
            </a:r>
            <a:endParaRPr lang="en-US" sz="1800" dirty="0"/>
          </a:p>
        </p:txBody>
      </p:sp>
      <p:sp>
        <p:nvSpPr>
          <p:cNvPr id="17" name="Text 17"/>
          <p:cNvSpPr txBox="1"/>
          <p:nvPr/>
        </p:nvSpPr>
        <p:spPr>
          <a:xfrm>
            <a:off x="8183880" y="3977640"/>
            <a:ext cx="3063240" cy="914400"/>
          </a:xfrm>
          <a:prstGeom prst="rect">
            <a:avLst/>
          </a:prstGeom>
          <a:noFill/>
          <a:ln>
            <a:noFill/>
          </a:ln>
        </p:spPr>
        <p:txBody>
          <a:bodyPr wrap="square" lIns="73152" tIns="73152" rIns="73152" bIns="73152" anchor="t">
            <a:noAutofit/>
          </a:bodyPr>
          <a:lstStyle/>
          <a:p>
            <a:pPr algn="ctr">
              <a:buNone/>
            </a:pPr>
            <a:r>
              <a:rPr lang="en-US" sz="1400" b="0" i="0" dirty="0">
                <a:solidFill>
                  <a:srgbClr val="9FB3C8"/>
                </a:solidFill>
                <a:latin typeface="Open Sans"/>
                <a:cs typeface="Open Sans"/>
              </a:rPr>
              <a:t>Integrity failures never reach training.</a:t>
            </a:r>
            <a:endParaRPr lang="en-US" sz="1400" dirty="0"/>
          </a:p>
        </p:txBody>
      </p:sp>
      <p:sp>
        <p:nvSpPr>
          <p:cNvPr id="18" name="Text 18"/>
          <p:cNvSpPr txBox="1"/>
          <p:nvPr/>
        </p:nvSpPr>
        <p:spPr>
          <a:xfrm>
            <a:off x="685800" y="5440680"/>
            <a:ext cx="10789920" cy="548640"/>
          </a:xfrm>
          <a:prstGeom prst="rect">
            <a:avLst/>
          </a:prstGeom>
          <a:noFill/>
          <a:ln>
            <a:noFill/>
          </a:ln>
        </p:spPr>
        <p:txBody>
          <a:bodyPr wrap="square" lIns="73152" tIns="73152" rIns="73152" bIns="73152" anchor="t">
            <a:noAutofit/>
          </a:bodyPr>
          <a:lstStyle/>
          <a:p>
            <a:pPr algn="l">
              <a:buNone/>
            </a:pPr>
            <a:r>
              <a:rPr lang="en-US" sz="1500" b="0" i="0" dirty="0">
                <a:solidFill>
                  <a:srgbClr val="E6EDF3"/>
                </a:solidFill>
                <a:latin typeface="Open Sans"/>
                <a:cs typeface="Open Sans"/>
              </a:rPr>
              <a:t>Every decision is written to an append-only audit log, keyed by the recording's content ID.</a:t>
            </a:r>
            <a:endParaRPr lang="en-US" sz="1500" dirty="0"/>
          </a:p>
        </p:txBody>
      </p:sp>
      <p:sp>
        <p:nvSpPr>
          <p:cNvPr id="19" name="Shape 19"/>
          <p:cNvSpPr/>
          <p:nvPr/>
        </p:nvSpPr>
        <p:spPr>
          <a:xfrm>
            <a:off x="685800" y="6419088"/>
            <a:ext cx="502920" cy="45720"/>
          </a:xfrm>
          <a:prstGeom prst="rect">
            <a:avLst/>
          </a:prstGeom>
          <a:solidFill>
            <a:srgbClr val="2DD4BF"/>
          </a:solidFill>
          <a:ln>
            <a:noFill/>
          </a:ln>
        </p:spPr>
        <p:txBody>
          <a:bodyPr/>
          <a:lstStyle/>
          <a:p>
            <a:endParaRPr lang="en-US"/>
          </a:p>
        </p:txBody>
      </p:sp>
      <p:sp>
        <p:nvSpPr>
          <p:cNvPr id="20" name="Text 20"/>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1" name="Text 21"/>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IMPLEMENTATION</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How we used Kiro</a:t>
            </a:r>
            <a:endParaRPr lang="en-US" sz="3400" dirty="0"/>
          </a:p>
        </p:txBody>
      </p:sp>
      <p:sp>
        <p:nvSpPr>
          <p:cNvPr id="5" name="Shape 5"/>
          <p:cNvSpPr/>
          <p:nvPr/>
        </p:nvSpPr>
        <p:spPr>
          <a:xfrm>
            <a:off x="685800" y="1783080"/>
            <a:ext cx="5257800" cy="2011680"/>
          </a:xfrm>
          <a:prstGeom prst="roundRect">
            <a:avLst>
              <a:gd name="adj" fmla="val 10000"/>
            </a:avLst>
          </a:prstGeom>
          <a:solidFill>
            <a:srgbClr val="151C26"/>
          </a:solidFill>
          <a:ln w="15875">
            <a:solidFill>
              <a:srgbClr val="23414A"/>
            </a:solidFill>
          </a:ln>
        </p:spPr>
        <p:txBody>
          <a:bodyPr/>
          <a:lstStyle/>
          <a:p>
            <a:endParaRPr lang="en-US"/>
          </a:p>
        </p:txBody>
      </p:sp>
      <p:sp>
        <p:nvSpPr>
          <p:cNvPr id="6" name="Text 6"/>
          <p:cNvSpPr txBox="1"/>
          <p:nvPr/>
        </p:nvSpPr>
        <p:spPr>
          <a:xfrm>
            <a:off x="914400" y="1874520"/>
            <a:ext cx="484632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Kiro Crew  ·  local laptop</a:t>
            </a:r>
            <a:endParaRPr lang="en-US" sz="1800" dirty="0"/>
          </a:p>
        </p:txBody>
      </p:sp>
      <p:sp>
        <p:nvSpPr>
          <p:cNvPr id="7" name="Text 7"/>
          <p:cNvSpPr txBox="1"/>
          <p:nvPr/>
        </p:nvSpPr>
        <p:spPr>
          <a:xfrm>
            <a:off x="914400" y="2331720"/>
            <a:ext cx="4846320" cy="1737360"/>
          </a:xfrm>
          <a:prstGeom prst="rect">
            <a:avLst/>
          </a:prstGeom>
          <a:noFill/>
          <a:ln>
            <a:noFill/>
          </a:ln>
        </p:spPr>
        <p:txBody>
          <a:bodyPr wrap="square" lIns="73152" tIns="73152" rIns="73152" bIns="73152" anchor="t">
            <a:noAutofit/>
          </a:bodyPr>
          <a:lstStyle/>
          <a:p>
            <a:pPr algn="l" marL="285750" indent="-285750">
              <a:buClr>
                <a:srgbClr val="2DD4BF"/>
              </a:buClr>
              <a:buFont typeface="Arial"/>
              <a:buChar char="•"/>
            </a:pPr>
            <a:r>
              <a:rPr lang="en-US" sz="1350" b="0" i="0" dirty="0">
                <a:solidFill>
                  <a:srgbClr val="E6EDF3"/>
                </a:solidFill>
                <a:latin typeface="Open Sans"/>
                <a:cs typeface="Open Sans"/>
              </a:rPr>
              <a:t>Set up Python and the virtual environment</a:t>
            </a:r>
            <a:endParaRPr lang="en-US" sz="1350" dirty="0"/>
          </a:p>
          <a:p>
            <a:pPr algn="l" marL="285750" indent="-285750">
              <a:spcBef>
                <a:spcPts val="400"/>
              </a:spcBef>
              <a:buClr>
                <a:srgbClr val="2DD4BF"/>
              </a:buClr>
              <a:buFont typeface="Arial"/>
              <a:buChar char="•"/>
            </a:pPr>
            <a:r>
              <a:rPr lang="en-US" sz="1350" b="0" i="0" dirty="0">
                <a:solidFill>
                  <a:srgbClr val="E6EDF3"/>
                </a:solidFill>
                <a:latin typeface="Open Sans"/>
                <a:cs typeface="Open Sans"/>
              </a:rPr>
              <a:t>Ran the app and the tests on the real machine</a:t>
            </a:r>
            <a:endParaRPr lang="en-US" sz="1350" dirty="0"/>
          </a:p>
          <a:p>
            <a:pPr algn="l" marL="285750" indent="-285750">
              <a:spcBef>
                <a:spcPts val="400"/>
              </a:spcBef>
              <a:buClr>
                <a:srgbClr val="2DD4BF"/>
              </a:buClr>
              <a:buFont typeface="Arial"/>
              <a:buChar char="•"/>
            </a:pPr>
            <a:r>
              <a:rPr lang="en-US" sz="1350" b="0" i="0" dirty="0">
                <a:solidFill>
                  <a:srgbClr val="E6EDF3"/>
                </a:solidFill>
                <a:latin typeface="Open Sans"/>
                <a:cs typeface="Open Sans"/>
              </a:rPr>
              <a:t>Shipped every feature as its own branch, pull request and merge</a:t>
            </a:r>
            <a:endParaRPr lang="en-US" sz="1350" dirty="0"/>
          </a:p>
        </p:txBody>
      </p:sp>
      <p:sp>
        <p:nvSpPr>
          <p:cNvPr id="8" name="Shape 8"/>
          <p:cNvSpPr/>
          <p:nvPr/>
        </p:nvSpPr>
        <p:spPr>
          <a:xfrm>
            <a:off x="6263640" y="1783080"/>
            <a:ext cx="5257800" cy="2011680"/>
          </a:xfrm>
          <a:prstGeom prst="roundRect">
            <a:avLst>
              <a:gd name="adj" fmla="val 10000"/>
            </a:avLst>
          </a:prstGeom>
          <a:solidFill>
            <a:srgbClr val="151C26"/>
          </a:solidFill>
          <a:ln w="15875">
            <a:solidFill>
              <a:srgbClr val="23414A"/>
            </a:solidFill>
          </a:ln>
        </p:spPr>
        <p:txBody>
          <a:bodyPr/>
          <a:lstStyle/>
          <a:p>
            <a:endParaRPr lang="en-US"/>
          </a:p>
        </p:txBody>
      </p:sp>
      <p:sp>
        <p:nvSpPr>
          <p:cNvPr id="9" name="Text 9"/>
          <p:cNvSpPr txBox="1"/>
          <p:nvPr/>
        </p:nvSpPr>
        <p:spPr>
          <a:xfrm>
            <a:off x="6492240" y="1874520"/>
            <a:ext cx="484632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Kiro Web  ·  cloud sandbox</a:t>
            </a:r>
            <a:endParaRPr lang="en-US" sz="1800" dirty="0"/>
          </a:p>
        </p:txBody>
      </p:sp>
      <p:sp>
        <p:nvSpPr>
          <p:cNvPr id="10" name="Text 10"/>
          <p:cNvSpPr txBox="1"/>
          <p:nvPr/>
        </p:nvSpPr>
        <p:spPr>
          <a:xfrm>
            <a:off x="6492240" y="2331720"/>
            <a:ext cx="4846320" cy="1737360"/>
          </a:xfrm>
          <a:prstGeom prst="rect">
            <a:avLst/>
          </a:prstGeom>
          <a:noFill/>
          <a:ln>
            <a:noFill/>
          </a:ln>
        </p:spPr>
        <p:txBody>
          <a:bodyPr wrap="square" lIns="73152" tIns="73152" rIns="73152" bIns="73152" anchor="t">
            <a:noAutofit/>
          </a:bodyPr>
          <a:lstStyle/>
          <a:p>
            <a:pPr algn="l" marL="285750" indent="-285750">
              <a:buClr>
                <a:srgbClr val="2DD4BF"/>
              </a:buClr>
              <a:buFont typeface="Arial"/>
              <a:buChar char="•"/>
            </a:pPr>
            <a:r>
              <a:rPr lang="en-US" sz="1350" b="0" i="0" dirty="0">
                <a:solidFill>
                  <a:srgbClr val="E6EDF3"/>
                </a:solidFill>
                <a:latin typeface="Open Sans"/>
                <a:cs typeface="Open Sans"/>
              </a:rPr>
              <a:t>No internet to install Streamlit, so it read the library's source on GitHub</a:t>
            </a:r>
            <a:endParaRPr lang="en-US" sz="1350" dirty="0"/>
          </a:p>
          <a:p>
            <a:pPr algn="l" marL="285750" indent="-285750">
              <a:spcBef>
                <a:spcPts val="400"/>
              </a:spcBef>
              <a:buClr>
                <a:srgbClr val="2DD4BF"/>
              </a:buClr>
              <a:buFont typeface="Arial"/>
              <a:buChar char="•"/>
            </a:pPr>
            <a:r>
              <a:rPr lang="en-US" sz="1350" b="0" i="0" dirty="0">
                <a:solidFill>
                  <a:srgbClr val="E6EDF3"/>
                </a:solidFill>
                <a:latin typeface="Open Sans"/>
                <a:cs typeface="Open Sans"/>
              </a:rPr>
              <a:t>Playwright power (MCP) rendered and screenshotted the UI</a:t>
            </a:r>
            <a:endParaRPr lang="en-US" sz="1350" dirty="0"/>
          </a:p>
          <a:p>
            <a:pPr algn="l" marL="285750" indent="-285750">
              <a:spcBef>
                <a:spcPts val="400"/>
              </a:spcBef>
              <a:buClr>
                <a:srgbClr val="2DD4BF"/>
              </a:buClr>
              <a:buFont typeface="Arial"/>
              <a:buChar char="•"/>
            </a:pPr>
            <a:r>
              <a:rPr lang="en-US" sz="1350" b="0" i="0" dirty="0">
                <a:solidFill>
                  <a:srgbClr val="E6EDF3"/>
                </a:solidFill>
                <a:latin typeface="Open Sans"/>
                <a:cs typeface="Open Sans"/>
              </a:rPr>
              <a:t>GitHub CI ran the full test suite on every pull request</a:t>
            </a:r>
            <a:endParaRPr lang="en-US" sz="1350" dirty="0"/>
          </a:p>
        </p:txBody>
      </p:sp>
      <p:sp>
        <p:nvSpPr>
          <p:cNvPr id="11" name="Text 11"/>
          <p:cNvSpPr txBox="1"/>
          <p:nvPr/>
        </p:nvSpPr>
        <p:spPr>
          <a:xfrm>
            <a:off x="685800" y="4160520"/>
            <a:ext cx="2560320" cy="548640"/>
          </a:xfrm>
          <a:prstGeom prst="rect">
            <a:avLst/>
          </a:prstGeom>
          <a:noFill/>
          <a:ln>
            <a:noFill/>
          </a:ln>
        </p:spPr>
        <p:txBody>
          <a:bodyPr wrap="square" lIns="73152" tIns="73152" rIns="73152" bIns="73152" anchor="t">
            <a:noAutofit/>
          </a:bodyPr>
          <a:lstStyle/>
          <a:p>
            <a:pPr algn="l">
              <a:buNone/>
            </a:pPr>
            <a:r>
              <a:rPr lang="en-US" sz="2800" b="1" i="0" dirty="0">
                <a:solidFill>
                  <a:srgbClr val="2DD4BF"/>
                </a:solidFill>
                <a:latin typeface="Montserrat"/>
                <a:cs typeface="Montserrat"/>
              </a:rPr>
              <a:t>Specs</a:t>
            </a:r>
            <a:endParaRPr lang="en-US" sz="2800" dirty="0"/>
          </a:p>
        </p:txBody>
      </p:sp>
      <p:sp>
        <p:nvSpPr>
          <p:cNvPr id="12" name="Text 12"/>
          <p:cNvSpPr txBox="1"/>
          <p:nvPr/>
        </p:nvSpPr>
        <p:spPr>
          <a:xfrm>
            <a:off x="685800" y="4709160"/>
            <a:ext cx="2560320" cy="73152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requirements, design and tasks for core features</a:t>
            </a:r>
            <a:endParaRPr lang="en-US" sz="1300" dirty="0"/>
          </a:p>
        </p:txBody>
      </p:sp>
      <p:sp>
        <p:nvSpPr>
          <p:cNvPr id="13" name="Text 13"/>
          <p:cNvSpPr txBox="1"/>
          <p:nvPr/>
        </p:nvSpPr>
        <p:spPr>
          <a:xfrm>
            <a:off x="3429000" y="4160520"/>
            <a:ext cx="2560320" cy="548640"/>
          </a:xfrm>
          <a:prstGeom prst="rect">
            <a:avLst/>
          </a:prstGeom>
          <a:noFill/>
          <a:ln>
            <a:noFill/>
          </a:ln>
        </p:spPr>
        <p:txBody>
          <a:bodyPr wrap="square" lIns="73152" tIns="73152" rIns="73152" bIns="73152" anchor="t">
            <a:noAutofit/>
          </a:bodyPr>
          <a:lstStyle/>
          <a:p>
            <a:pPr algn="l">
              <a:buNone/>
            </a:pPr>
            <a:r>
              <a:rPr lang="en-US" sz="2800" b="1" i="0" dirty="0">
                <a:solidFill>
                  <a:srgbClr val="2DD4BF"/>
                </a:solidFill>
                <a:latin typeface="Montserrat"/>
                <a:cs typeface="Montserrat"/>
              </a:rPr>
              <a:t>Steering</a:t>
            </a:r>
            <a:endParaRPr lang="en-US" sz="2800" dirty="0"/>
          </a:p>
        </p:txBody>
      </p:sp>
      <p:sp>
        <p:nvSpPr>
          <p:cNvPr id="14" name="Text 14"/>
          <p:cNvSpPr txBox="1"/>
          <p:nvPr/>
        </p:nvSpPr>
        <p:spPr>
          <a:xfrm>
            <a:off x="3429000" y="4709160"/>
            <a:ext cx="2560320" cy="73152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2 docs: test before merge, no overclaiming</a:t>
            </a:r>
            <a:endParaRPr lang="en-US" sz="1300" dirty="0"/>
          </a:p>
        </p:txBody>
      </p:sp>
      <p:sp>
        <p:nvSpPr>
          <p:cNvPr id="15" name="Text 15"/>
          <p:cNvSpPr txBox="1"/>
          <p:nvPr/>
        </p:nvSpPr>
        <p:spPr>
          <a:xfrm>
            <a:off x="6172200" y="4160520"/>
            <a:ext cx="2560320" cy="548640"/>
          </a:xfrm>
          <a:prstGeom prst="rect">
            <a:avLst/>
          </a:prstGeom>
          <a:noFill/>
          <a:ln>
            <a:noFill/>
          </a:ln>
        </p:spPr>
        <p:txBody>
          <a:bodyPr wrap="square" lIns="73152" tIns="73152" rIns="73152" bIns="73152" anchor="t">
            <a:noAutofit/>
          </a:bodyPr>
          <a:lstStyle/>
          <a:p>
            <a:pPr algn="l">
              <a:buNone/>
            </a:pPr>
            <a:r>
              <a:rPr lang="en-US" sz="2800" b="1" i="0" dirty="0">
                <a:solidFill>
                  <a:srgbClr val="2DD4BF"/>
                </a:solidFill>
                <a:latin typeface="Montserrat"/>
                <a:cs typeface="Montserrat"/>
              </a:rPr>
              <a:t>21</a:t>
            </a:r>
            <a:endParaRPr lang="en-US" sz="2800" dirty="0"/>
          </a:p>
        </p:txBody>
      </p:sp>
      <p:sp>
        <p:nvSpPr>
          <p:cNvPr id="16" name="Text 16"/>
          <p:cNvSpPr txBox="1"/>
          <p:nvPr/>
        </p:nvSpPr>
        <p:spPr>
          <a:xfrm>
            <a:off x="6172200" y="4709160"/>
            <a:ext cx="2560320" cy="73152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merged pull requests</a:t>
            </a:r>
            <a:endParaRPr lang="en-US" sz="1300" dirty="0"/>
          </a:p>
        </p:txBody>
      </p:sp>
      <p:sp>
        <p:nvSpPr>
          <p:cNvPr id="17" name="Text 17"/>
          <p:cNvSpPr txBox="1"/>
          <p:nvPr/>
        </p:nvSpPr>
        <p:spPr>
          <a:xfrm>
            <a:off x="8915400" y="4160520"/>
            <a:ext cx="2560320" cy="548640"/>
          </a:xfrm>
          <a:prstGeom prst="rect">
            <a:avLst/>
          </a:prstGeom>
          <a:noFill/>
          <a:ln>
            <a:noFill/>
          </a:ln>
        </p:spPr>
        <p:txBody>
          <a:bodyPr wrap="square" lIns="73152" tIns="73152" rIns="73152" bIns="73152" anchor="t">
            <a:noAutofit/>
          </a:bodyPr>
          <a:lstStyle/>
          <a:p>
            <a:pPr algn="l">
              <a:buNone/>
            </a:pPr>
            <a:r>
              <a:rPr lang="en-US" sz="2800" b="1" i="0" dirty="0">
                <a:solidFill>
                  <a:srgbClr val="2DD4BF"/>
                </a:solidFill>
                <a:latin typeface="Montserrat"/>
                <a:cs typeface="Montserrat"/>
              </a:rPr>
              <a:t>129</a:t>
            </a:r>
            <a:endParaRPr lang="en-US" sz="2800" dirty="0"/>
          </a:p>
        </p:txBody>
      </p:sp>
      <p:sp>
        <p:nvSpPr>
          <p:cNvPr id="18" name="Text 18"/>
          <p:cNvSpPr txBox="1"/>
          <p:nvPr/>
        </p:nvSpPr>
        <p:spPr>
          <a:xfrm>
            <a:off x="8915400" y="4709160"/>
            <a:ext cx="2560320" cy="73152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tests passing on Python 3.9 &amp; 3.13</a:t>
            </a:r>
            <a:endParaRPr lang="en-US" sz="1300" dirty="0"/>
          </a:p>
        </p:txBody>
      </p:sp>
      <p:sp>
        <p:nvSpPr>
          <p:cNvPr id="19" name="Text 19"/>
          <p:cNvSpPr txBox="1"/>
          <p:nvPr/>
        </p:nvSpPr>
        <p:spPr>
          <a:xfrm>
            <a:off x="685800" y="5532120"/>
            <a:ext cx="10789920" cy="457200"/>
          </a:xfrm>
          <a:prstGeom prst="rect">
            <a:avLst/>
          </a:prstGeom>
          <a:noFill/>
          <a:ln>
            <a:noFill/>
          </a:ln>
        </p:spPr>
        <p:txBody>
          <a:bodyPr wrap="square" lIns="73152" tIns="73152" rIns="73152" bIns="73152" anchor="t">
            <a:noAutofit/>
          </a:bodyPr>
          <a:lstStyle/>
          <a:p>
            <a:pPr algn="l">
              <a:buNone/>
            </a:pPr>
            <a:r>
              <a:rPr lang="en-US" sz="1250" b="0" i="1" dirty="0">
                <a:solidFill>
                  <a:srgbClr val="9FB3C8"/>
                </a:solidFill>
                <a:latin typeface="Open Sans"/>
                <a:cs typeface="Open Sans"/>
              </a:rPr>
              <a:t>Full write-up and specs: the /.kiro folder in our repo.</a:t>
            </a:r>
            <a:endParaRPr lang="en-US" sz="1250" dirty="0"/>
          </a:p>
        </p:txBody>
      </p:sp>
      <p:sp>
        <p:nvSpPr>
          <p:cNvPr id="20" name="Shape 20"/>
          <p:cNvSpPr/>
          <p:nvPr/>
        </p:nvSpPr>
        <p:spPr>
          <a:xfrm>
            <a:off x="685800" y="6419088"/>
            <a:ext cx="502920" cy="45720"/>
          </a:xfrm>
          <a:prstGeom prst="rect">
            <a:avLst/>
          </a:prstGeom>
          <a:solidFill>
            <a:srgbClr val="2DD4BF"/>
          </a:solidFill>
          <a:ln>
            <a:noFill/>
          </a:ln>
        </p:spPr>
        <p:txBody>
          <a:bodyPr/>
          <a:lstStyle/>
          <a:p>
            <a:endParaRPr lang="en-US"/>
          </a:p>
        </p:txBody>
      </p:sp>
      <p:sp>
        <p:nvSpPr>
          <p:cNvPr id="21" name="Text 21"/>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2" name="Text 22"/>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pic>
        <p:nvPicPr>
          <p:cNvPr id="3" name="mascot.png"/>
          <p:cNvPicPr>
            <a:picLocks noChangeAspect="1"/>
          </p:cNvPicPr>
          <p:nvPr/>
        </p:nvPicPr>
        <p:blipFill>
          <a:blip r:embed="rId3"/>
          <a:stretch>
            <a:fillRect/>
          </a:stretch>
        </p:blipFill>
        <p:spPr>
          <a:xfrm>
            <a:off x="777240" y="914400"/>
            <a:ext cx="1463040" cy="1463040"/>
          </a:xfrm>
          <a:prstGeom prst="rect">
            <a:avLst/>
          </a:prstGeom>
        </p:spPr>
      </p:pic>
      <p:sp>
        <p:nvSpPr>
          <p:cNvPr id="4" name="Text 4"/>
          <p:cNvSpPr txBox="1"/>
          <p:nvPr/>
        </p:nvSpPr>
        <p:spPr>
          <a:xfrm>
            <a:off x="2468880" y="960120"/>
            <a:ext cx="4572000" cy="914400"/>
          </a:xfrm>
          <a:prstGeom prst="rect">
            <a:avLst/>
          </a:prstGeom>
          <a:noFill/>
          <a:ln>
            <a:noFill/>
          </a:ln>
        </p:spPr>
        <p:txBody>
          <a:bodyPr wrap="square" lIns="73152" tIns="73152" rIns="73152" bIns="73152" anchor="t">
            <a:noAutofit/>
          </a:bodyPr>
          <a:lstStyle/>
          <a:p>
            <a:pPr algn="l">
              <a:buNone/>
            </a:pPr>
            <a:r>
              <a:rPr lang="en-US" sz="4000" b="1" i="0" dirty="0">
                <a:solidFill>
                  <a:srgbClr val="E6EDF3"/>
                </a:solidFill>
                <a:latin typeface="Montserrat"/>
                <a:cs typeface="Montserrat"/>
              </a:rPr>
              <a:t>Try DataMon</a:t>
            </a:r>
            <a:endParaRPr lang="en-US" sz="4000" dirty="0"/>
          </a:p>
        </p:txBody>
      </p:sp>
      <p:sp>
        <p:nvSpPr>
          <p:cNvPr id="5" name="Text 5"/>
          <p:cNvSpPr txBox="1"/>
          <p:nvPr/>
        </p:nvSpPr>
        <p:spPr>
          <a:xfrm>
            <a:off x="2468880" y="1691640"/>
            <a:ext cx="4572000" cy="548640"/>
          </a:xfrm>
          <a:prstGeom prst="rect">
            <a:avLst/>
          </a:prstGeom>
          <a:noFill/>
          <a:ln>
            <a:noFill/>
          </a:ln>
        </p:spPr>
        <p:txBody>
          <a:bodyPr wrap="square" lIns="73152" tIns="73152" rIns="73152" bIns="73152" anchor="t">
            <a:noAutofit/>
          </a:bodyPr>
          <a:lstStyle/>
          <a:p>
            <a:pPr algn="l">
              <a:buNone/>
            </a:pPr>
            <a:r>
              <a:rPr lang="en-US" sz="2000" b="0" i="1" dirty="0">
                <a:solidFill>
                  <a:srgbClr val="2DD4BF"/>
                </a:solidFill>
                <a:latin typeface="Open Sans"/>
                <a:cs typeface="Open Sans"/>
              </a:rPr>
              <a:t>Good data in. Bad data out.</a:t>
            </a:r>
            <a:endParaRPr lang="en-US" sz="2000" dirty="0"/>
          </a:p>
        </p:txBody>
      </p:sp>
      <p:sp>
        <p:nvSpPr>
          <p:cNvPr id="6" name="Text 6"/>
          <p:cNvSpPr txBox="1"/>
          <p:nvPr/>
        </p:nvSpPr>
        <p:spPr>
          <a:xfrm>
            <a:off x="777240" y="2743200"/>
            <a:ext cx="5760720" cy="2468880"/>
          </a:xfrm>
          <a:prstGeom prst="roundRect">
            <a:avLst>
              <a:gd name="adj" fmla="val 8000"/>
            </a:avLst>
          </a:prstGeom>
          <a:solidFill>
            <a:srgbClr val="151C26"/>
          </a:solidFill>
          <a:ln w="15875">
            <a:solidFill>
              <a:srgbClr val="23414A"/>
            </a:solidFill>
          </a:ln>
        </p:spPr>
        <p:txBody>
          <a:bodyPr wrap="square" lIns="228600" tIns="228600" rIns="228600" bIns="228600" anchor="t">
            <a:noAutofit/>
          </a:bodyPr>
          <a:lstStyle/>
          <a:p>
            <a:pPr algn="l">
              <a:buNone/>
            </a:pPr>
            <a:r>
              <a:rPr lang="en-US" sz="1200" b="1" i="0" dirty="0">
                <a:solidFill>
                  <a:srgbClr val="9FB3C8"/>
                </a:solidFill>
                <a:latin typeface="Montserrat"/>
                <a:cs typeface="Montserrat"/>
              </a:rPr>
              <a:t>LIVE SITE</a:t>
            </a:r>
            <a:endParaRPr lang="en-US" sz="1200" dirty="0"/>
          </a:p>
          <a:p>
            <a:pPr algn="l">
              <a:spcBef>
                <a:spcPts val="200"/>
              </a:spcBef>
              <a:buNone/>
            </a:pPr>
            <a:r>
              <a:rPr lang="en-US" sz="1700" b="1" i="0" dirty="0">
                <a:solidFill>
                  <a:srgbClr val="2DD4BF"/>
                </a:solidFill>
                <a:latin typeface="Open Sans"/>
                <a:cs typeface="Open Sans"/>
              </a:rPr>
              <a:t>hackachusetts-datamon.streamlit.app</a:t>
            </a:r>
            <a:endParaRPr lang="en-US" sz="1700" dirty="0"/>
          </a:p>
          <a:p>
            <a:pPr algn="l">
              <a:spcBef>
                <a:spcPts val="1400"/>
              </a:spcBef>
              <a:buNone/>
            </a:pPr>
            <a:r>
              <a:rPr lang="en-US" sz="1200" b="1" i="0" dirty="0">
                <a:solidFill>
                  <a:srgbClr val="9FB3C8"/>
                </a:solidFill>
                <a:latin typeface="Montserrat"/>
                <a:cs typeface="Montserrat"/>
              </a:rPr>
              <a:t>SIGN IN</a:t>
            </a:r>
            <a:endParaRPr lang="en-US" sz="1200" dirty="0"/>
          </a:p>
          <a:p>
            <a:pPr algn="l">
              <a:spcBef>
                <a:spcPts val="200"/>
              </a:spcBef>
              <a:buNone/>
            </a:pPr>
            <a:r>
              <a:rPr lang="en-US" sz="1700" b="1" i="0" dirty="0">
                <a:solidFill>
                  <a:srgbClr val="E6EDF3"/>
                </a:solidFill>
                <a:latin typeface="Open Sans"/>
                <a:cs typeface="Open Sans"/>
              </a:rPr>
              <a:t>judge  /  Hello World!</a:t>
            </a:r>
            <a:endParaRPr lang="en-US" sz="1700" dirty="0"/>
          </a:p>
          <a:p>
            <a:pPr algn="l">
              <a:spcBef>
                <a:spcPts val="1400"/>
              </a:spcBef>
              <a:buNone/>
            </a:pPr>
            <a:r>
              <a:rPr lang="en-US" sz="1200" b="1" i="0" dirty="0">
                <a:solidFill>
                  <a:srgbClr val="9FB3C8"/>
                </a:solidFill>
                <a:latin typeface="Montserrat"/>
                <a:cs typeface="Montserrat"/>
              </a:rPr>
              <a:t>CODE + KIRO SPECS</a:t>
            </a:r>
            <a:endParaRPr lang="en-US" sz="1200" dirty="0"/>
          </a:p>
          <a:p>
            <a:pPr algn="l">
              <a:spcBef>
                <a:spcPts val="200"/>
              </a:spcBef>
              <a:buNone/>
            </a:pPr>
            <a:r>
              <a:rPr lang="en-US" sz="1700" b="1" i="0" dirty="0">
                <a:solidFill>
                  <a:srgbClr val="2DD4BF"/>
                </a:solidFill>
                <a:latin typeface="Open Sans"/>
                <a:cs typeface="Open Sans"/>
              </a:rPr>
              <a:t>github.com/AZALAH/HackachusettsR3</a:t>
            </a:r>
            <a:endParaRPr lang="en-US" sz="1700" dirty="0"/>
          </a:p>
        </p:txBody>
      </p:sp>
      <p:pic>
        <p:nvPicPr>
          <p:cNvPr id="7" name="login.png"/>
          <p:cNvPicPr>
            <a:picLocks noChangeAspect="1"/>
          </p:cNvPicPr>
          <p:nvPr/>
        </p:nvPicPr>
        <p:blipFill>
          <a:blip r:embed="rId4"/>
          <a:stretch>
            <a:fillRect/>
          </a:stretch>
        </p:blipFill>
        <p:spPr>
          <a:xfrm>
            <a:off x="6812280" y="960120"/>
            <a:ext cx="4709160" cy="2996738"/>
          </a:xfrm>
          <a:prstGeom prst="rect">
            <a:avLst/>
          </a:prstGeom>
        </p:spPr>
      </p:pic>
      <p:sp>
        <p:nvSpPr>
          <p:cNvPr id="8" name="Text 8"/>
          <p:cNvSpPr txBox="1"/>
          <p:nvPr/>
        </p:nvSpPr>
        <p:spPr>
          <a:xfrm>
            <a:off x="6812280" y="4069080"/>
            <a:ext cx="4709160" cy="457200"/>
          </a:xfrm>
          <a:prstGeom prst="rect">
            <a:avLst/>
          </a:prstGeom>
          <a:noFill/>
          <a:ln>
            <a:noFill/>
          </a:ln>
        </p:spPr>
        <p:txBody>
          <a:bodyPr wrap="square" lIns="73152" tIns="73152" rIns="73152" bIns="73152" anchor="t">
            <a:noAutofit/>
          </a:bodyPr>
          <a:lstStyle/>
          <a:p>
            <a:pPr algn="ctr">
              <a:buNone/>
            </a:pPr>
            <a:r>
              <a:rPr lang="en-US" sz="1200" b="0" i="1" dirty="0">
                <a:solidFill>
                  <a:srgbClr val="9FB3C8"/>
                </a:solidFill>
                <a:latin typeface="Open Sans"/>
                <a:cs typeface="Open Sans"/>
              </a:rPr>
              <a:t>The DataMon sign-in page</a:t>
            </a:r>
            <a:endParaRPr lang="en-US" sz="1200" dirty="0"/>
          </a:p>
        </p:txBody>
      </p:sp>
      <p:sp>
        <p:nvSpPr>
          <p:cNvPr id="9" name="Text 9"/>
          <p:cNvSpPr txBox="1"/>
          <p:nvPr/>
        </p:nvSpPr>
        <p:spPr>
          <a:xfrm>
            <a:off x="6812280" y="4846320"/>
            <a:ext cx="4709160" cy="822960"/>
          </a:xfrm>
          <a:prstGeom prst="rect">
            <a:avLst/>
          </a:prstGeom>
          <a:noFill/>
          <a:ln>
            <a:noFill/>
          </a:ln>
        </p:spPr>
        <p:txBody>
          <a:bodyPr wrap="square" lIns="73152" tIns="73152" rIns="73152" bIns="73152" anchor="t">
            <a:noAutofit/>
          </a:bodyPr>
          <a:lstStyle/>
          <a:p>
            <a:pPr algn="ctr">
              <a:buNone/>
            </a:pPr>
            <a:r>
              <a:rPr lang="en-US" sz="3000" b="1" i="0" dirty="0">
                <a:solidFill>
                  <a:srgbClr val="E6EDF3"/>
                </a:solidFill>
                <a:latin typeface="Montserrat"/>
                <a:cs typeface="Montserrat"/>
              </a:rPr>
              <a:t>Thank you!</a:t>
            </a:r>
            <a:endParaRPr lang="en-US" sz="3000" dirty="0"/>
          </a:p>
        </p:txBody>
      </p:sp>
      <p:sp>
        <p:nvSpPr>
          <p:cNvPr id="10" name="Text 10"/>
          <p:cNvSpPr txBox="1"/>
          <p:nvPr/>
        </p:nvSpPr>
        <p:spPr>
          <a:xfrm>
            <a:off x="777240" y="5760720"/>
            <a:ext cx="10058400" cy="365760"/>
          </a:xfrm>
          <a:prstGeom prst="rect">
            <a:avLst/>
          </a:prstGeom>
          <a:noFill/>
          <a:ln>
            <a:noFill/>
          </a:ln>
        </p:spPr>
        <p:txBody>
          <a:bodyPr wrap="square" lIns="73152" tIns="73152" rIns="73152" bIns="73152" anchor="t">
            <a:noAutofit/>
          </a:bodyPr>
          <a:lstStyle/>
          <a:p>
            <a:pPr algn="l">
              <a:buNone/>
            </a:pPr>
            <a:r>
              <a:rPr lang="en-US" sz="1100" b="0" i="1" dirty="0">
                <a:solidFill>
                  <a:srgbClr val="9FB3C8"/>
                </a:solidFill>
                <a:latin typeface="Open Sans"/>
                <a:cs typeface="Open Sans"/>
              </a:rPr>
              <a:t>Guided-tour narration voiced with ElevenLabs text-to-speech.</a:t>
            </a:r>
            <a:endParaRPr lang="en-US" sz="1100" dirty="0"/>
          </a:p>
        </p:txBody>
      </p:sp>
      <p:sp>
        <p:nvSpPr>
          <p:cNvPr id="11" name="Shape 11"/>
          <p:cNvSpPr/>
          <p:nvPr/>
        </p:nvSpPr>
        <p:spPr>
          <a:xfrm>
            <a:off x="685800" y="6419088"/>
            <a:ext cx="502920" cy="45720"/>
          </a:xfrm>
          <a:prstGeom prst="rect">
            <a:avLst/>
          </a:prstGeom>
          <a:solidFill>
            <a:srgbClr val="2DD4BF"/>
          </a:solidFill>
          <a:ln>
            <a:noFill/>
          </a:ln>
        </p:spPr>
        <p:txBody>
          <a:bodyPr/>
          <a:lstStyle/>
          <a:p>
            <a:endParaRPr lang="en-US"/>
          </a:p>
        </p:txBody>
      </p:sp>
      <p:sp>
        <p:nvSpPr>
          <p:cNvPr id="12" name="Text 12"/>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13" name="Text 13"/>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HOW IT WORKS</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Four checks, in plain terms</a:t>
            </a:r>
            <a:endParaRPr lang="en-US" sz="3400" dirty="0"/>
          </a:p>
        </p:txBody>
      </p:sp>
      <p:sp>
        <p:nvSpPr>
          <p:cNvPr id="5" name="Shape 5"/>
          <p:cNvSpPr/>
          <p:nvPr/>
        </p:nvSpPr>
        <p:spPr>
          <a:xfrm>
            <a:off x="685800" y="2011680"/>
            <a:ext cx="2560320" cy="2148840"/>
          </a:xfrm>
          <a:prstGeom prst="roundRect">
            <a:avLst>
              <a:gd name="adj" fmla="val 10000"/>
            </a:avLst>
          </a:prstGeom>
          <a:solidFill>
            <a:srgbClr val="151C26"/>
          </a:solidFill>
          <a:ln w="15875">
            <a:solidFill>
              <a:srgbClr val="23414A"/>
            </a:solidFill>
          </a:ln>
        </p:spPr>
        <p:txBody>
          <a:bodyPr/>
          <a:lstStyle/>
          <a:p>
            <a:endParaRPr lang="en-US"/>
          </a:p>
        </p:txBody>
      </p:sp>
      <p:sp>
        <p:nvSpPr>
          <p:cNvPr id="6" name="Shape 6"/>
          <p:cNvSpPr/>
          <p:nvPr/>
        </p:nvSpPr>
        <p:spPr>
          <a:xfrm>
            <a:off x="685800" y="2176272"/>
            <a:ext cx="64008" cy="1819656"/>
          </a:xfrm>
          <a:prstGeom prst="rect">
            <a:avLst/>
          </a:prstGeom>
          <a:solidFill>
            <a:srgbClr val="2DD4BF"/>
          </a:solidFill>
          <a:ln>
            <a:noFill/>
          </a:ln>
        </p:spPr>
        <p:txBody>
          <a:bodyPr/>
          <a:lstStyle/>
          <a:p>
            <a:endParaRPr lang="en-US"/>
          </a:p>
        </p:txBody>
      </p:sp>
      <p:sp>
        <p:nvSpPr>
          <p:cNvPr id="7" name="Text 7"/>
          <p:cNvSpPr txBox="1"/>
          <p:nvPr/>
        </p:nvSpPr>
        <p:spPr>
          <a:xfrm>
            <a:off x="914400" y="2148840"/>
            <a:ext cx="2194560" cy="457200"/>
          </a:xfrm>
          <a:prstGeom prst="rect">
            <a:avLst/>
          </a:prstGeom>
          <a:noFill/>
          <a:ln>
            <a:noFill/>
          </a:ln>
        </p:spPr>
        <p:txBody>
          <a:bodyPr wrap="square" lIns="73152" tIns="73152" rIns="73152" bIns="73152" anchor="t">
            <a:noAutofit/>
          </a:bodyPr>
          <a:lstStyle/>
          <a:p>
            <a:pPr algn="l">
              <a:buNone/>
            </a:pPr>
            <a:r>
              <a:rPr lang="en-US" sz="1700" b="1" i="0" dirty="0">
                <a:solidFill>
                  <a:srgbClr val="2DD4BF"/>
                </a:solidFill>
                <a:latin typeface="Montserrat"/>
                <a:cs typeface="Montserrat"/>
              </a:rPr>
              <a:t>1  Integrity</a:t>
            </a:r>
            <a:endParaRPr lang="en-US" sz="1700" dirty="0"/>
          </a:p>
        </p:txBody>
      </p:sp>
      <p:sp>
        <p:nvSpPr>
          <p:cNvPr id="8" name="Text 8"/>
          <p:cNvSpPr txBox="1"/>
          <p:nvPr/>
        </p:nvSpPr>
        <p:spPr>
          <a:xfrm>
            <a:off x="914400" y="2578608"/>
            <a:ext cx="2194560" cy="146304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Is the timing steady? Any dropped frames, frozen channels or values out of range?</a:t>
            </a:r>
            <a:endParaRPr lang="en-US" sz="1300" dirty="0"/>
          </a:p>
        </p:txBody>
      </p:sp>
      <p:sp>
        <p:nvSpPr>
          <p:cNvPr id="9" name="Shape 9"/>
          <p:cNvSpPr/>
          <p:nvPr/>
        </p:nvSpPr>
        <p:spPr>
          <a:xfrm>
            <a:off x="3429000" y="2011680"/>
            <a:ext cx="2560320" cy="2148840"/>
          </a:xfrm>
          <a:prstGeom prst="roundRect">
            <a:avLst>
              <a:gd name="adj" fmla="val 10000"/>
            </a:avLst>
          </a:prstGeom>
          <a:solidFill>
            <a:srgbClr val="151C26"/>
          </a:solidFill>
          <a:ln w="15875">
            <a:solidFill>
              <a:srgbClr val="23414A"/>
            </a:solidFill>
          </a:ln>
        </p:spPr>
        <p:txBody>
          <a:bodyPr/>
          <a:lstStyle/>
          <a:p>
            <a:endParaRPr lang="en-US"/>
          </a:p>
        </p:txBody>
      </p:sp>
      <p:sp>
        <p:nvSpPr>
          <p:cNvPr id="10" name="Shape 10"/>
          <p:cNvSpPr/>
          <p:nvPr/>
        </p:nvSpPr>
        <p:spPr>
          <a:xfrm>
            <a:off x="3429000" y="2176272"/>
            <a:ext cx="64008" cy="1819656"/>
          </a:xfrm>
          <a:prstGeom prst="rect">
            <a:avLst/>
          </a:prstGeom>
          <a:solidFill>
            <a:srgbClr val="2DD4BF"/>
          </a:solidFill>
          <a:ln>
            <a:noFill/>
          </a:ln>
        </p:spPr>
        <p:txBody>
          <a:bodyPr/>
          <a:lstStyle/>
          <a:p>
            <a:endParaRPr lang="en-US"/>
          </a:p>
        </p:txBody>
      </p:sp>
      <p:sp>
        <p:nvSpPr>
          <p:cNvPr id="11" name="Text 11"/>
          <p:cNvSpPr txBox="1"/>
          <p:nvPr/>
        </p:nvSpPr>
        <p:spPr>
          <a:xfrm>
            <a:off x="3657600" y="2148840"/>
            <a:ext cx="2194560" cy="457200"/>
          </a:xfrm>
          <a:prstGeom prst="rect">
            <a:avLst/>
          </a:prstGeom>
          <a:noFill/>
          <a:ln>
            <a:noFill/>
          </a:ln>
        </p:spPr>
        <p:txBody>
          <a:bodyPr wrap="square" lIns="73152" tIns="73152" rIns="73152" bIns="73152" anchor="t">
            <a:noAutofit/>
          </a:bodyPr>
          <a:lstStyle/>
          <a:p>
            <a:pPr algn="l">
              <a:buNone/>
            </a:pPr>
            <a:r>
              <a:rPr lang="en-US" sz="1700" b="1" i="0" dirty="0">
                <a:solidFill>
                  <a:srgbClr val="2DD4BF"/>
                </a:solidFill>
                <a:latin typeface="Montserrat"/>
                <a:cs typeface="Montserrat"/>
              </a:rPr>
              <a:t>2  Labels</a:t>
            </a:r>
            <a:endParaRPr lang="en-US" sz="1700" dirty="0"/>
          </a:p>
        </p:txBody>
      </p:sp>
      <p:sp>
        <p:nvSpPr>
          <p:cNvPr id="12" name="Text 12"/>
          <p:cNvSpPr txBox="1"/>
          <p:nvPr/>
        </p:nvSpPr>
        <p:spPr>
          <a:xfrm>
            <a:off x="3657600" y="2578608"/>
            <a:ext cx="2194560" cy="146304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Was the robot told what it was doing? Missing or gibberish task text is flagged.</a:t>
            </a:r>
            <a:endParaRPr lang="en-US" sz="1300" dirty="0"/>
          </a:p>
        </p:txBody>
      </p:sp>
      <p:sp>
        <p:nvSpPr>
          <p:cNvPr id="13" name="Shape 13"/>
          <p:cNvSpPr/>
          <p:nvPr/>
        </p:nvSpPr>
        <p:spPr>
          <a:xfrm>
            <a:off x="6172200" y="2011680"/>
            <a:ext cx="2560320" cy="2148840"/>
          </a:xfrm>
          <a:prstGeom prst="roundRect">
            <a:avLst>
              <a:gd name="adj" fmla="val 10000"/>
            </a:avLst>
          </a:prstGeom>
          <a:solidFill>
            <a:srgbClr val="151C26"/>
          </a:solidFill>
          <a:ln w="15875">
            <a:solidFill>
              <a:srgbClr val="23414A"/>
            </a:solidFill>
          </a:ln>
        </p:spPr>
        <p:txBody>
          <a:bodyPr/>
          <a:lstStyle/>
          <a:p>
            <a:endParaRPr lang="en-US"/>
          </a:p>
        </p:txBody>
      </p:sp>
      <p:sp>
        <p:nvSpPr>
          <p:cNvPr id="14" name="Shape 14"/>
          <p:cNvSpPr/>
          <p:nvPr/>
        </p:nvSpPr>
        <p:spPr>
          <a:xfrm>
            <a:off x="6172200" y="2176272"/>
            <a:ext cx="64008" cy="1819656"/>
          </a:xfrm>
          <a:prstGeom prst="rect">
            <a:avLst/>
          </a:prstGeom>
          <a:solidFill>
            <a:srgbClr val="2DD4BF"/>
          </a:solidFill>
          <a:ln>
            <a:noFill/>
          </a:ln>
        </p:spPr>
        <p:txBody>
          <a:bodyPr/>
          <a:lstStyle/>
          <a:p>
            <a:endParaRPr lang="en-US"/>
          </a:p>
        </p:txBody>
      </p:sp>
      <p:sp>
        <p:nvSpPr>
          <p:cNvPr id="15" name="Text 15"/>
          <p:cNvSpPr txBox="1"/>
          <p:nvPr/>
        </p:nvSpPr>
        <p:spPr>
          <a:xfrm>
            <a:off x="6400800" y="2148840"/>
            <a:ext cx="2194560" cy="457200"/>
          </a:xfrm>
          <a:prstGeom prst="rect">
            <a:avLst/>
          </a:prstGeom>
          <a:noFill/>
          <a:ln>
            <a:noFill/>
          </a:ln>
        </p:spPr>
        <p:txBody>
          <a:bodyPr wrap="square" lIns="73152" tIns="73152" rIns="73152" bIns="73152" anchor="t">
            <a:noAutofit/>
          </a:bodyPr>
          <a:lstStyle/>
          <a:p>
            <a:pPr algn="l">
              <a:buNone/>
            </a:pPr>
            <a:r>
              <a:rPr lang="en-US" sz="1700" b="1" i="0" dirty="0">
                <a:solidFill>
                  <a:srgbClr val="2DD4BF"/>
                </a:solidFill>
                <a:latin typeface="Montserrat"/>
                <a:cs typeface="Montserrat"/>
              </a:rPr>
              <a:t>3  Unusualness</a:t>
            </a:r>
            <a:endParaRPr lang="en-US" sz="1700" dirty="0"/>
          </a:p>
        </p:txBody>
      </p:sp>
      <p:sp>
        <p:nvSpPr>
          <p:cNvPr id="16" name="Text 16"/>
          <p:cNvSpPr txBox="1"/>
          <p:nvPr/>
        </p:nvSpPr>
        <p:spPr>
          <a:xfrm>
            <a:off x="6400800" y="2578608"/>
            <a:ext cx="2194560" cy="146304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How different is it from known-good recordings of the same task? A rank, not a probability.</a:t>
            </a:r>
            <a:endParaRPr lang="en-US" sz="1300" dirty="0"/>
          </a:p>
        </p:txBody>
      </p:sp>
      <p:sp>
        <p:nvSpPr>
          <p:cNvPr id="17" name="Shape 17"/>
          <p:cNvSpPr/>
          <p:nvPr/>
        </p:nvSpPr>
        <p:spPr>
          <a:xfrm>
            <a:off x="8915400" y="2011680"/>
            <a:ext cx="2560320" cy="2148840"/>
          </a:xfrm>
          <a:prstGeom prst="roundRect">
            <a:avLst>
              <a:gd name="adj" fmla="val 10000"/>
            </a:avLst>
          </a:prstGeom>
          <a:solidFill>
            <a:srgbClr val="151C26"/>
          </a:solidFill>
          <a:ln w="15875">
            <a:solidFill>
              <a:srgbClr val="23414A"/>
            </a:solidFill>
          </a:ln>
        </p:spPr>
        <p:txBody>
          <a:bodyPr/>
          <a:lstStyle/>
          <a:p>
            <a:endParaRPr lang="en-US"/>
          </a:p>
        </p:txBody>
      </p:sp>
      <p:sp>
        <p:nvSpPr>
          <p:cNvPr id="18" name="Shape 18"/>
          <p:cNvSpPr/>
          <p:nvPr/>
        </p:nvSpPr>
        <p:spPr>
          <a:xfrm>
            <a:off x="8915400" y="2176272"/>
            <a:ext cx="64008" cy="1819656"/>
          </a:xfrm>
          <a:prstGeom prst="rect">
            <a:avLst/>
          </a:prstGeom>
          <a:solidFill>
            <a:srgbClr val="2DD4BF"/>
          </a:solidFill>
          <a:ln>
            <a:noFill/>
          </a:ln>
        </p:spPr>
        <p:txBody>
          <a:bodyPr/>
          <a:lstStyle/>
          <a:p>
            <a:endParaRPr lang="en-US"/>
          </a:p>
        </p:txBody>
      </p:sp>
      <p:sp>
        <p:nvSpPr>
          <p:cNvPr id="19" name="Text 19"/>
          <p:cNvSpPr txBox="1"/>
          <p:nvPr/>
        </p:nvSpPr>
        <p:spPr>
          <a:xfrm>
            <a:off x="9144000" y="2148840"/>
            <a:ext cx="2194560" cy="457200"/>
          </a:xfrm>
          <a:prstGeom prst="rect">
            <a:avLst/>
          </a:prstGeom>
          <a:noFill/>
          <a:ln>
            <a:noFill/>
          </a:ln>
        </p:spPr>
        <p:txBody>
          <a:bodyPr wrap="square" lIns="73152" tIns="73152" rIns="73152" bIns="73152" anchor="t">
            <a:noAutofit/>
          </a:bodyPr>
          <a:lstStyle/>
          <a:p>
            <a:pPr algn="l">
              <a:buNone/>
            </a:pPr>
            <a:r>
              <a:rPr lang="en-US" sz="1700" b="1" i="0" dirty="0">
                <a:solidFill>
                  <a:srgbClr val="2DD4BF"/>
                </a:solidFill>
                <a:latin typeface="Montserrat"/>
                <a:cs typeface="Montserrat"/>
              </a:rPr>
              <a:t>4  Route + log</a:t>
            </a:r>
            <a:endParaRPr lang="en-US" sz="1700" dirty="0"/>
          </a:p>
        </p:txBody>
      </p:sp>
      <p:sp>
        <p:nvSpPr>
          <p:cNvPr id="20" name="Text 20"/>
          <p:cNvSpPr txBox="1"/>
          <p:nvPr/>
        </p:nvSpPr>
        <p:spPr>
          <a:xfrm>
            <a:off x="9144000" y="2578608"/>
            <a:ext cx="2194560" cy="146304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Accept, review or reject, and record why. History is never overwritten.</a:t>
            </a:r>
            <a:endParaRPr lang="en-US" sz="1300" dirty="0"/>
          </a:p>
        </p:txBody>
      </p:sp>
      <p:sp>
        <p:nvSpPr>
          <p:cNvPr id="21" name="Text 21"/>
          <p:cNvSpPr txBox="1"/>
          <p:nvPr/>
        </p:nvSpPr>
        <p:spPr>
          <a:xfrm>
            <a:off x="685800" y="4526280"/>
            <a:ext cx="10789920" cy="822960"/>
          </a:xfrm>
          <a:prstGeom prst="rect">
            <a:avLst/>
          </a:prstGeom>
          <a:noFill/>
          <a:ln>
            <a:noFill/>
          </a:ln>
        </p:spPr>
        <p:txBody>
          <a:bodyPr wrap="square" lIns="73152" tIns="73152" rIns="73152" bIns="73152" anchor="t">
            <a:noAutofit/>
          </a:bodyPr>
          <a:lstStyle/>
          <a:p>
            <a:pPr algn="l">
              <a:buNone/>
            </a:pPr>
            <a:r>
              <a:rPr lang="en-US" sz="1500" b="1" i="0" dirty="0">
                <a:solidFill>
                  <a:srgbClr val="2DD4BF"/>
                </a:solidFill>
                <a:latin typeface="Open Sans"/>
                <a:cs typeface="Open Sans"/>
              </a:rPr>
              <a:t>Works live too: </a:t>
            </a:r>
            <a:r>
              <a:rPr lang="en-US" sz="1500" b="0" i="0" dirty="0">
                <a:solidFill>
                  <a:srgbClr val="E6EDF3"/>
                </a:solidFill>
                <a:latin typeface="Open Sans"/>
                <a:cs typeface="Open Sans"/>
              </a:rPr>
              <a:t>a collector adapter streams frames from a running robot into the same gate, and per-robot profiles store each rig's expected rate and limits.</a:t>
            </a:r>
            <a:endParaRPr lang="en-US" sz="1500" dirty="0"/>
          </a:p>
        </p:txBody>
      </p:sp>
      <p:sp>
        <p:nvSpPr>
          <p:cNvPr id="22" name="Shape 22"/>
          <p:cNvSpPr/>
          <p:nvPr/>
        </p:nvSpPr>
        <p:spPr>
          <a:xfrm>
            <a:off x="685800" y="6419088"/>
            <a:ext cx="502920" cy="45720"/>
          </a:xfrm>
          <a:prstGeom prst="rect">
            <a:avLst/>
          </a:prstGeom>
          <a:solidFill>
            <a:srgbClr val="2DD4BF"/>
          </a:solidFill>
          <a:ln>
            <a:noFill/>
          </a:ln>
        </p:spPr>
        <p:txBody>
          <a:bodyPr/>
          <a:lstStyle/>
          <a:p>
            <a:endParaRPr lang="en-US"/>
          </a:p>
        </p:txBody>
      </p:sp>
      <p:sp>
        <p:nvSpPr>
          <p:cNvPr id="23" name="Text 23"/>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4" name="Text 24"/>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BUILT FOR EVERYONE</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Accessible, and fun to use</a:t>
            </a:r>
            <a:endParaRPr lang="en-US" sz="3400" dirty="0"/>
          </a:p>
        </p:txBody>
      </p:sp>
      <p:sp>
        <p:nvSpPr>
          <p:cNvPr id="5" name="Text 5"/>
          <p:cNvSpPr txBox="1"/>
          <p:nvPr/>
        </p:nvSpPr>
        <p:spPr>
          <a:xfrm>
            <a:off x="685800" y="1783080"/>
            <a:ext cx="5760720" cy="41148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Narrated guided tour</a:t>
            </a:r>
            <a:endParaRPr lang="en-US" sz="1800" dirty="0"/>
          </a:p>
        </p:txBody>
      </p:sp>
      <p:sp>
        <p:nvSpPr>
          <p:cNvPr id="6" name="Text 6"/>
          <p:cNvSpPr txBox="1"/>
          <p:nvPr/>
        </p:nvSpPr>
        <p:spPr>
          <a:xfrm>
            <a:off x="685800" y="2167128"/>
            <a:ext cx="5760720" cy="6400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11 steps. Voice (ElevenLabs), captions and a pointing arrow, so it works with or without sound.</a:t>
            </a:r>
            <a:endParaRPr lang="en-US" sz="1350" dirty="0"/>
          </a:p>
        </p:txBody>
      </p:sp>
      <p:sp>
        <p:nvSpPr>
          <p:cNvPr id="7" name="Text 7"/>
          <p:cNvSpPr txBox="1"/>
          <p:nvPr/>
        </p:nvSpPr>
        <p:spPr>
          <a:xfrm>
            <a:off x="685800" y="2862072"/>
            <a:ext cx="5760720" cy="41148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Grounded help assistant</a:t>
            </a:r>
            <a:endParaRPr lang="en-US" sz="1800" dirty="0"/>
          </a:p>
        </p:txBody>
      </p:sp>
      <p:sp>
        <p:nvSpPr>
          <p:cNvPr id="8" name="Text 8"/>
          <p:cNvSpPr txBox="1"/>
          <p:nvPr/>
        </p:nvSpPr>
        <p:spPr>
          <a:xfrm>
            <a:off x="685800" y="3246120"/>
            <a:ext cx="5760720" cy="6400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Answers only from DataMon's own docs, so it never invents an answer.</a:t>
            </a:r>
            <a:endParaRPr lang="en-US" sz="1350" dirty="0"/>
          </a:p>
        </p:txBody>
      </p:sp>
      <p:sp>
        <p:nvSpPr>
          <p:cNvPr id="9" name="Text 9"/>
          <p:cNvSpPr txBox="1"/>
          <p:nvPr/>
        </p:nvSpPr>
        <p:spPr>
          <a:xfrm>
            <a:off x="685800" y="3941064"/>
            <a:ext cx="5760720" cy="41148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See it and hear it</a:t>
            </a:r>
            <a:endParaRPr lang="en-US" sz="1800" dirty="0"/>
          </a:p>
        </p:txBody>
      </p:sp>
      <p:sp>
        <p:nvSpPr>
          <p:cNvPr id="10" name="Text 10"/>
          <p:cNvSpPr txBox="1"/>
          <p:nvPr/>
        </p:nvSpPr>
        <p:spPr>
          <a:xfrm>
            <a:off x="685800" y="4325112"/>
            <a:ext cx="5760720" cy="6400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Rejections show a colour-coded verdict and play an alert sound.</a:t>
            </a:r>
            <a:endParaRPr lang="en-US" sz="1350" dirty="0"/>
          </a:p>
        </p:txBody>
      </p:sp>
      <p:sp>
        <p:nvSpPr>
          <p:cNvPr id="11" name="Text 11"/>
          <p:cNvSpPr txBox="1"/>
          <p:nvPr/>
        </p:nvSpPr>
        <p:spPr>
          <a:xfrm>
            <a:off x="685800" y="5020056"/>
            <a:ext cx="5760720" cy="41148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Reduced motion</a:t>
            </a:r>
            <a:endParaRPr lang="en-US" sz="1800" dirty="0"/>
          </a:p>
        </p:txBody>
      </p:sp>
      <p:sp>
        <p:nvSpPr>
          <p:cNvPr id="12" name="Text 12"/>
          <p:cNvSpPr txBox="1"/>
          <p:nvPr/>
        </p:nvSpPr>
        <p:spPr>
          <a:xfrm>
            <a:off x="685800" y="5404104"/>
            <a:ext cx="5760720" cy="6400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Every animation switches off for people who turn off motion in their system settings.</a:t>
            </a:r>
            <a:endParaRPr lang="en-US" sz="1350" dirty="0"/>
          </a:p>
        </p:txBody>
      </p:sp>
      <p:pic>
        <p:nvPicPr>
          <p:cNvPr id="13" name="loader.png"/>
          <p:cNvPicPr>
            <a:picLocks noChangeAspect="1"/>
          </p:cNvPicPr>
          <p:nvPr/>
        </p:nvPicPr>
        <p:blipFill>
          <a:blip r:embed="rId3"/>
          <a:stretch>
            <a:fillRect/>
          </a:stretch>
        </p:blipFill>
        <p:spPr>
          <a:xfrm>
            <a:off x="6720840" y="1783080"/>
            <a:ext cx="4800600" cy="3054927"/>
          </a:xfrm>
          <a:prstGeom prst="rect">
            <a:avLst/>
          </a:prstGeom>
        </p:spPr>
      </p:pic>
      <p:sp>
        <p:nvSpPr>
          <p:cNvPr id="14" name="Text 14"/>
          <p:cNvSpPr txBox="1"/>
          <p:nvPr/>
        </p:nvSpPr>
        <p:spPr>
          <a:xfrm>
            <a:off x="6720840" y="4892040"/>
            <a:ext cx="4800600" cy="822960"/>
          </a:xfrm>
          <a:prstGeom prst="rect">
            <a:avLst/>
          </a:prstGeom>
          <a:noFill/>
          <a:ln>
            <a:noFill/>
          </a:ln>
        </p:spPr>
        <p:txBody>
          <a:bodyPr wrap="square" lIns="73152" tIns="73152" rIns="73152" bIns="73152" anchor="t">
            <a:noAutofit/>
          </a:bodyPr>
          <a:lstStyle/>
          <a:p>
            <a:pPr algn="l">
              <a:buNone/>
            </a:pPr>
            <a:r>
              <a:rPr lang="en-US" sz="1200" b="0" i="1" dirty="0">
                <a:solidFill>
                  <a:srgbClr val="9FB3C8"/>
                </a:solidFill>
                <a:latin typeface="Open Sans"/>
                <a:cs typeface="Open Sans"/>
              </a:rPr>
              <a:t>The loading screen does real work (it loads and scores the data) and passes the time with robotics jokes and fun facts.</a:t>
            </a:r>
            <a:endParaRPr lang="en-US" sz="1200" dirty="0"/>
          </a:p>
        </p:txBody>
      </p:sp>
      <p:sp>
        <p:nvSpPr>
          <p:cNvPr id="15" name="Shape 15"/>
          <p:cNvSpPr/>
          <p:nvPr/>
        </p:nvSpPr>
        <p:spPr>
          <a:xfrm>
            <a:off x="685800" y="6419088"/>
            <a:ext cx="502920" cy="45720"/>
          </a:xfrm>
          <a:prstGeom prst="rect">
            <a:avLst/>
          </a:prstGeom>
          <a:solidFill>
            <a:srgbClr val="2DD4BF"/>
          </a:solidFill>
          <a:ln>
            <a:noFill/>
          </a:ln>
        </p:spPr>
        <p:txBody>
          <a:bodyPr/>
          <a:lstStyle/>
          <a:p>
            <a:endParaRPr lang="en-US"/>
          </a:p>
        </p:txBody>
      </p:sp>
      <p:sp>
        <p:nvSpPr>
          <p:cNvPr id="16" name="Text 16"/>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17" name="Text 17"/>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POTENTIAL VALUE</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Who benefits, and how it scales</a:t>
            </a:r>
            <a:endParaRPr lang="en-US" sz="3400" dirty="0"/>
          </a:p>
        </p:txBody>
      </p:sp>
      <p:sp>
        <p:nvSpPr>
          <p:cNvPr id="5" name="Shape 5"/>
          <p:cNvSpPr/>
          <p:nvPr/>
        </p:nvSpPr>
        <p:spPr>
          <a:xfrm>
            <a:off x="685800" y="1874520"/>
            <a:ext cx="3429000" cy="1783080"/>
          </a:xfrm>
          <a:prstGeom prst="roundRect">
            <a:avLst>
              <a:gd name="adj" fmla="val 10000"/>
            </a:avLst>
          </a:prstGeom>
          <a:solidFill>
            <a:srgbClr val="151C26"/>
          </a:solidFill>
          <a:ln w="15875">
            <a:solidFill>
              <a:srgbClr val="23414A"/>
            </a:solidFill>
          </a:ln>
        </p:spPr>
        <p:txBody>
          <a:bodyPr/>
          <a:lstStyle/>
          <a:p>
            <a:endParaRPr lang="en-US"/>
          </a:p>
        </p:txBody>
      </p:sp>
      <p:sp>
        <p:nvSpPr>
          <p:cNvPr id="6" name="Shape 6"/>
          <p:cNvSpPr/>
          <p:nvPr/>
        </p:nvSpPr>
        <p:spPr>
          <a:xfrm>
            <a:off x="685800" y="2039112"/>
            <a:ext cx="64008" cy="1453896"/>
          </a:xfrm>
          <a:prstGeom prst="rect">
            <a:avLst/>
          </a:prstGeom>
          <a:solidFill>
            <a:srgbClr val="2DD4BF"/>
          </a:solidFill>
          <a:ln>
            <a:noFill/>
          </a:ln>
        </p:spPr>
        <p:txBody>
          <a:bodyPr/>
          <a:lstStyle/>
          <a:p>
            <a:endParaRPr lang="en-US"/>
          </a:p>
        </p:txBody>
      </p:sp>
      <p:sp>
        <p:nvSpPr>
          <p:cNvPr id="7" name="Text 7"/>
          <p:cNvSpPr txBox="1"/>
          <p:nvPr/>
        </p:nvSpPr>
        <p:spPr>
          <a:xfrm>
            <a:off x="914400" y="201168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Robotics labs</a:t>
            </a:r>
            <a:endParaRPr lang="en-US" sz="1800" dirty="0"/>
          </a:p>
        </p:txBody>
      </p:sp>
      <p:sp>
        <p:nvSpPr>
          <p:cNvPr id="8" name="Text 8"/>
          <p:cNvSpPr txBox="1"/>
          <p:nvPr/>
        </p:nvSpPr>
        <p:spPr>
          <a:xfrm>
            <a:off x="914400" y="2441448"/>
            <a:ext cx="3063240" cy="10972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Stop wasting training runs on broken demonstrations.</a:t>
            </a:r>
            <a:endParaRPr lang="en-US" sz="1350" dirty="0"/>
          </a:p>
        </p:txBody>
      </p:sp>
      <p:sp>
        <p:nvSpPr>
          <p:cNvPr id="9" name="Shape 9"/>
          <p:cNvSpPr/>
          <p:nvPr/>
        </p:nvSpPr>
        <p:spPr>
          <a:xfrm>
            <a:off x="4343400" y="1874520"/>
            <a:ext cx="3429000" cy="1783080"/>
          </a:xfrm>
          <a:prstGeom prst="roundRect">
            <a:avLst>
              <a:gd name="adj" fmla="val 10000"/>
            </a:avLst>
          </a:prstGeom>
          <a:solidFill>
            <a:srgbClr val="151C26"/>
          </a:solidFill>
          <a:ln w="15875">
            <a:solidFill>
              <a:srgbClr val="23414A"/>
            </a:solidFill>
          </a:ln>
        </p:spPr>
        <p:txBody>
          <a:bodyPr/>
          <a:lstStyle/>
          <a:p>
            <a:endParaRPr lang="en-US"/>
          </a:p>
        </p:txBody>
      </p:sp>
      <p:sp>
        <p:nvSpPr>
          <p:cNvPr id="10" name="Shape 10"/>
          <p:cNvSpPr/>
          <p:nvPr/>
        </p:nvSpPr>
        <p:spPr>
          <a:xfrm>
            <a:off x="4343400" y="2039112"/>
            <a:ext cx="64008" cy="1453896"/>
          </a:xfrm>
          <a:prstGeom prst="rect">
            <a:avLst/>
          </a:prstGeom>
          <a:solidFill>
            <a:srgbClr val="2DD4BF"/>
          </a:solidFill>
          <a:ln>
            <a:noFill/>
          </a:ln>
        </p:spPr>
        <p:txBody>
          <a:bodyPr/>
          <a:lstStyle/>
          <a:p>
            <a:endParaRPr lang="en-US"/>
          </a:p>
        </p:txBody>
      </p:sp>
      <p:sp>
        <p:nvSpPr>
          <p:cNvPr id="11" name="Text 11"/>
          <p:cNvSpPr txBox="1"/>
          <p:nvPr/>
        </p:nvSpPr>
        <p:spPr>
          <a:xfrm>
            <a:off x="4572000" y="201168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Data-collection teams</a:t>
            </a:r>
            <a:endParaRPr lang="en-US" sz="1800" dirty="0"/>
          </a:p>
        </p:txBody>
      </p:sp>
      <p:sp>
        <p:nvSpPr>
          <p:cNvPr id="12" name="Text 12"/>
          <p:cNvSpPr txBox="1"/>
          <p:nvPr/>
        </p:nvSpPr>
        <p:spPr>
          <a:xfrm>
            <a:off x="4572000" y="2441448"/>
            <a:ext cx="3063240" cy="10972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Catch a bad recording while the robot and operator are still there to redo it.</a:t>
            </a:r>
            <a:endParaRPr lang="en-US" sz="1350" dirty="0"/>
          </a:p>
        </p:txBody>
      </p:sp>
      <p:sp>
        <p:nvSpPr>
          <p:cNvPr id="13" name="Shape 13"/>
          <p:cNvSpPr/>
          <p:nvPr/>
        </p:nvSpPr>
        <p:spPr>
          <a:xfrm>
            <a:off x="8001000" y="1874520"/>
            <a:ext cx="3429000" cy="1783080"/>
          </a:xfrm>
          <a:prstGeom prst="roundRect">
            <a:avLst>
              <a:gd name="adj" fmla="val 10000"/>
            </a:avLst>
          </a:prstGeom>
          <a:solidFill>
            <a:srgbClr val="151C26"/>
          </a:solidFill>
          <a:ln w="15875">
            <a:solidFill>
              <a:srgbClr val="23414A"/>
            </a:solidFill>
          </a:ln>
        </p:spPr>
        <p:txBody>
          <a:bodyPr/>
          <a:lstStyle/>
          <a:p>
            <a:endParaRPr lang="en-US"/>
          </a:p>
        </p:txBody>
      </p:sp>
      <p:sp>
        <p:nvSpPr>
          <p:cNvPr id="14" name="Shape 14"/>
          <p:cNvSpPr/>
          <p:nvPr/>
        </p:nvSpPr>
        <p:spPr>
          <a:xfrm>
            <a:off x="8001000" y="2039112"/>
            <a:ext cx="64008" cy="1453896"/>
          </a:xfrm>
          <a:prstGeom prst="rect">
            <a:avLst/>
          </a:prstGeom>
          <a:solidFill>
            <a:srgbClr val="2DD4BF"/>
          </a:solidFill>
          <a:ln>
            <a:noFill/>
          </a:ln>
        </p:spPr>
        <p:txBody>
          <a:bodyPr/>
          <a:lstStyle/>
          <a:p>
            <a:endParaRPr lang="en-US"/>
          </a:p>
        </p:txBody>
      </p:sp>
      <p:sp>
        <p:nvSpPr>
          <p:cNvPr id="15" name="Text 15"/>
          <p:cNvSpPr txBox="1"/>
          <p:nvPr/>
        </p:nvSpPr>
        <p:spPr>
          <a:xfrm>
            <a:off x="8229600" y="201168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Dataset publishers</a:t>
            </a:r>
            <a:endParaRPr lang="en-US" sz="1800" dirty="0"/>
          </a:p>
        </p:txBody>
      </p:sp>
      <p:sp>
        <p:nvSpPr>
          <p:cNvPr id="16" name="Text 16"/>
          <p:cNvSpPr txBox="1"/>
          <p:nvPr/>
        </p:nvSpPr>
        <p:spPr>
          <a:xfrm>
            <a:off x="8229600" y="2441448"/>
            <a:ext cx="3063240" cy="10972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Ship a quality report and an audit trail with every release.</a:t>
            </a:r>
            <a:endParaRPr lang="en-US" sz="1350" dirty="0"/>
          </a:p>
        </p:txBody>
      </p:sp>
      <p:sp>
        <p:nvSpPr>
          <p:cNvPr id="17" name="Text 17"/>
          <p:cNvSpPr txBox="1"/>
          <p:nvPr/>
        </p:nvSpPr>
        <p:spPr>
          <a:xfrm>
            <a:off x="685800" y="3977640"/>
            <a:ext cx="1078992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Built to scale</a:t>
            </a:r>
            <a:endParaRPr lang="en-US" sz="1800" dirty="0"/>
          </a:p>
        </p:txBody>
      </p:sp>
      <p:sp>
        <p:nvSpPr>
          <p:cNvPr id="18" name="Text 18"/>
          <p:cNvSpPr txBox="1"/>
          <p:nvPr/>
        </p:nvSpPr>
        <p:spPr>
          <a:xfrm>
            <a:off x="685800" y="4434840"/>
            <a:ext cx="10789920" cy="1645920"/>
          </a:xfrm>
          <a:prstGeom prst="rect">
            <a:avLst/>
          </a:prstGeom>
          <a:noFill/>
          <a:ln>
            <a:noFill/>
          </a:ln>
        </p:spPr>
        <p:txBody>
          <a:bodyPr wrap="square" lIns="73152" tIns="73152" rIns="73152" bIns="73152" anchor="t">
            <a:noAutofit/>
          </a:bodyPr>
          <a:lstStyle/>
          <a:p>
            <a:pPr algn="l" marL="285750" indent="-285750">
              <a:buClr>
                <a:srgbClr val="2DD4BF"/>
              </a:buClr>
              <a:buFont typeface="Arial"/>
              <a:buChar char="•"/>
            </a:pPr>
            <a:r>
              <a:rPr lang="en-US" sz="1400" b="0" i="0" dirty="0">
                <a:solidFill>
                  <a:srgbClr val="E6EDF3"/>
                </a:solidFill>
                <a:latin typeface="Open Sans"/>
                <a:cs typeface="Open Sans"/>
              </a:rPr>
              <a:t>Reads the open LeRobot format, so any dataset published that way works with no conversion</a:t>
            </a:r>
            <a:endParaRPr lang="en-US" sz="1400" dirty="0"/>
          </a:p>
          <a:p>
            <a:pPr algn="l" marL="285750" indent="-285750">
              <a:spcBef>
                <a:spcPts val="500"/>
              </a:spcBef>
              <a:buClr>
                <a:srgbClr val="2DD4BF"/>
              </a:buClr>
              <a:buFont typeface="Arial"/>
              <a:buChar char="•"/>
            </a:pPr>
            <a:r>
              <a:rPr lang="en-US" sz="1400" b="0" i="0" dirty="0">
                <a:solidFill>
                  <a:srgbClr val="E6EDF3"/>
                </a:solidFill>
                <a:latin typeface="Open Sans"/>
                <a:cs typeface="Open Sans"/>
              </a:rPr>
              <a:t>Streams from a live robot through a transport-agnostic collector adapter (ROS 2, WebSocket, robot SDKs)</a:t>
            </a:r>
            <a:endParaRPr lang="en-US" sz="1400" dirty="0"/>
          </a:p>
          <a:p>
            <a:pPr algn="l" marL="285750" indent="-285750">
              <a:spcBef>
                <a:spcPts val="500"/>
              </a:spcBef>
              <a:buClr>
                <a:srgbClr val="2DD4BF"/>
              </a:buClr>
              <a:buFont typeface="Arial"/>
              <a:buChar char="•"/>
            </a:pPr>
            <a:r>
              <a:rPr lang="en-US" sz="1400" b="0" i="0" dirty="0">
                <a:solidFill>
                  <a:srgbClr val="E6EDF3"/>
                </a:solidFill>
                <a:latin typeface="Open Sans"/>
                <a:cs typeface="Open Sans"/>
              </a:rPr>
              <a:t>Per-robot profiles and per-task baselines, so new rigs and tasks slot in</a:t>
            </a:r>
            <a:endParaRPr lang="en-US" sz="1400" dirty="0"/>
          </a:p>
        </p:txBody>
      </p:sp>
      <p:sp>
        <p:nvSpPr>
          <p:cNvPr id="19" name="Shape 19"/>
          <p:cNvSpPr/>
          <p:nvPr/>
        </p:nvSpPr>
        <p:spPr>
          <a:xfrm>
            <a:off x="685800" y="6419088"/>
            <a:ext cx="502920" cy="45720"/>
          </a:xfrm>
          <a:prstGeom prst="rect">
            <a:avLst/>
          </a:prstGeom>
          <a:solidFill>
            <a:srgbClr val="2DD4BF"/>
          </a:solidFill>
          <a:ln>
            <a:noFill/>
          </a:ln>
        </p:spPr>
        <p:txBody>
          <a:bodyPr/>
          <a:lstStyle/>
          <a:p>
            <a:endParaRPr lang="en-US"/>
          </a:p>
        </p:txBody>
      </p:sp>
      <p:sp>
        <p:nvSpPr>
          <p:cNvPr id="20" name="Text 20"/>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1" name="Text 21"/>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1463040"/>
            <a:ext cx="10789920" cy="457200"/>
          </a:xfrm>
          <a:prstGeom prst="rect">
            <a:avLst/>
          </a:prstGeom>
          <a:noFill/>
          <a:ln>
            <a:noFill/>
          </a:ln>
        </p:spPr>
        <p:txBody>
          <a:bodyPr wrap="square" lIns="73152" tIns="73152" rIns="73152" bIns="73152" anchor="t">
            <a:noAutofit/>
          </a:bodyPr>
          <a:lstStyle/>
          <a:p>
            <a:pPr algn="ctr">
              <a:buNone/>
            </a:pPr>
            <a:r>
              <a:rPr lang="en-US" sz="1600" b="1" i="0" dirty="0">
                <a:solidFill>
                  <a:srgbClr val="2DD4BF"/>
                </a:solidFill>
                <a:latin typeface="Montserrat"/>
                <a:cs typeface="Montserrat"/>
              </a:rPr>
              <a:t>LIVE DEMO</a:t>
            </a:r>
            <a:endParaRPr lang="en-US" sz="1600" dirty="0"/>
          </a:p>
        </p:txBody>
      </p:sp>
      <p:sp>
        <p:nvSpPr>
          <p:cNvPr id="4" name="Text 4"/>
          <p:cNvSpPr txBox="1"/>
          <p:nvPr/>
        </p:nvSpPr>
        <p:spPr>
          <a:xfrm>
            <a:off x="685800" y="1920240"/>
            <a:ext cx="10789920" cy="1097280"/>
          </a:xfrm>
          <a:prstGeom prst="rect">
            <a:avLst/>
          </a:prstGeom>
          <a:noFill/>
          <a:ln>
            <a:noFill/>
          </a:ln>
        </p:spPr>
        <p:txBody>
          <a:bodyPr wrap="square" lIns="73152" tIns="73152" rIns="73152" bIns="73152" anchor="t">
            <a:noAutofit/>
          </a:bodyPr>
          <a:lstStyle/>
          <a:p>
            <a:pPr algn="ctr">
              <a:buNone/>
            </a:pPr>
            <a:r>
              <a:rPr lang="en-US" sz="4800" b="1" i="0" dirty="0">
                <a:solidFill>
                  <a:srgbClr val="E6EDF3"/>
                </a:solidFill>
                <a:latin typeface="Montserrat"/>
                <a:cs typeface="Montserrat"/>
              </a:rPr>
              <a:t>See it working</a:t>
            </a:r>
            <a:endParaRPr lang="en-US" sz="4800" dirty="0"/>
          </a:p>
        </p:txBody>
      </p:sp>
      <p:sp>
        <p:nvSpPr>
          <p:cNvPr id="5" name="Text 5"/>
          <p:cNvSpPr txBox="1"/>
          <p:nvPr/>
        </p:nvSpPr>
        <p:spPr>
          <a:xfrm>
            <a:off x="2651760" y="3291840"/>
            <a:ext cx="6858000" cy="1463040"/>
          </a:xfrm>
          <a:prstGeom prst="roundRect">
            <a:avLst>
              <a:gd name="adj" fmla="val 8000"/>
            </a:avLst>
          </a:prstGeom>
          <a:solidFill>
            <a:srgbClr val="151C26"/>
          </a:solidFill>
          <a:ln w="15875">
            <a:solidFill>
              <a:srgbClr val="23414A"/>
            </a:solidFill>
          </a:ln>
        </p:spPr>
        <p:txBody>
          <a:bodyPr wrap="square" lIns="73152" tIns="73152" rIns="73152" bIns="73152" anchor="ctr">
            <a:noAutofit/>
          </a:bodyPr>
          <a:lstStyle/>
          <a:p>
            <a:pPr algn="ctr">
              <a:buNone/>
            </a:pPr>
            <a:r>
              <a:rPr lang="en-US" sz="2200" b="1" i="0" dirty="0">
                <a:solidFill>
                  <a:srgbClr val="2DD4BF"/>
                </a:solidFill>
                <a:latin typeface="Open Sans"/>
                <a:cs typeface="Open Sans"/>
              </a:rPr>
              <a:t>hackachusetts-datamon.streamlit.app</a:t>
            </a:r>
            <a:endParaRPr lang="en-US" sz="2200" dirty="0"/>
          </a:p>
          <a:p>
            <a:pPr algn="ctr">
              <a:spcBef>
                <a:spcPts val="1000"/>
              </a:spcBef>
              <a:buNone/>
            </a:pPr>
            <a:r>
              <a:rPr lang="en-US" sz="1800" b="0" i="0" dirty="0">
                <a:solidFill>
                  <a:srgbClr val="E6EDF3"/>
                </a:solidFill>
                <a:latin typeface="Open Sans"/>
                <a:cs typeface="Open Sans"/>
              </a:rPr>
              <a:t>Sign in:  judge  /  Hello World!</a:t>
            </a:r>
            <a:endParaRPr lang="en-US" sz="1800" dirty="0"/>
          </a:p>
        </p:txBody>
      </p:sp>
      <p:sp>
        <p:nvSpPr>
          <p:cNvPr id="6" name="Text 6"/>
          <p:cNvSpPr txBox="1"/>
          <p:nvPr/>
        </p:nvSpPr>
        <p:spPr>
          <a:xfrm>
            <a:off x="685800" y="5120640"/>
            <a:ext cx="10789920" cy="548640"/>
          </a:xfrm>
          <a:prstGeom prst="rect">
            <a:avLst/>
          </a:prstGeom>
          <a:noFill/>
          <a:ln>
            <a:noFill/>
          </a:ln>
        </p:spPr>
        <p:txBody>
          <a:bodyPr wrap="square" lIns="73152" tIns="73152" rIns="73152" bIns="73152" anchor="t">
            <a:noAutofit/>
          </a:bodyPr>
          <a:lstStyle/>
          <a:p>
            <a:pPr algn="ctr">
              <a:buNone/>
            </a:pPr>
            <a:r>
              <a:rPr lang="en-US" sz="1500" b="0" i="0" dirty="0">
                <a:solidFill>
                  <a:srgbClr val="9FB3C8"/>
                </a:solidFill>
                <a:latin typeface="Open Sans"/>
                <a:cs typeface="Open Sans"/>
              </a:rPr>
              <a:t>Real public data: 100 DROID recordings and a BridgeData V2 sample, in the open LeRobot format.</a:t>
            </a:r>
            <a:endParaRPr lang="en-US" sz="1500" dirty="0"/>
          </a:p>
        </p:txBody>
      </p:sp>
      <p:sp>
        <p:nvSpPr>
          <p:cNvPr id="7" name="Shape 7"/>
          <p:cNvSpPr/>
          <p:nvPr/>
        </p:nvSpPr>
        <p:spPr>
          <a:xfrm>
            <a:off x="685800" y="6419088"/>
            <a:ext cx="502920" cy="45720"/>
          </a:xfrm>
          <a:prstGeom prst="rect">
            <a:avLst/>
          </a:prstGeom>
          <a:solidFill>
            <a:srgbClr val="2DD4BF"/>
          </a:solidFill>
          <a:ln>
            <a:noFill/>
          </a:ln>
        </p:spPr>
        <p:txBody>
          <a:bodyPr/>
          <a:lstStyle/>
          <a:p>
            <a:endParaRPr lang="en-US"/>
          </a:p>
        </p:txBody>
      </p:sp>
      <p:sp>
        <p:nvSpPr>
          <p:cNvPr id="8" name="Text 8"/>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9" name="Text 9"/>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9</a:t>
            </a:r>
            <a:endParaRPr lang="en-US" sz="1000" dirty="0"/>
          </a:p>
        </p:txBody>
      </p:sp>
    </p:spTree>
  </p:cSld>
  <p:clrMapOvr>
    <a:masterClrMapping/>
  </p:clrMapOvr>
</p:sld>
</file>

<file path=ppt/theme/theme1.xml><?xml version="1.0" encoding="utf-8"?>
<a:theme xmlns:a="http://schemas.openxmlformats.org/drawingml/2006/main" name="DataMon">
  <a:themeElements>
    <a:clrScheme name="DataMon">
      <a:dk1>
        <a:srgbClr val="0E1117"/>
      </a:dk1>
      <a:lt1>
        <a:srgbClr val="FFFFFF"/>
      </a:lt1>
      <a:dk2>
        <a:srgbClr val="1A1F2B"/>
      </a:dk2>
      <a:lt2>
        <a:srgbClr val="E6EDF3"/>
      </a:lt2>
      <a:accent1>
        <a:srgbClr val="2DD4BF"/>
      </a:accent1>
      <a:accent2>
        <a:srgbClr val="0D9488"/>
      </a:accent2>
      <a:accent3>
        <a:srgbClr val="38BDF8"/>
      </a:accent3>
      <a:accent4>
        <a:srgbClr val="2E9E44"/>
      </a:accent4>
      <a:accent5>
        <a:srgbClr val="D9A400"/>
      </a:accent5>
      <a:accent6>
        <a:srgbClr val="D64545"/>
      </a:accent6>
      <a:hlink>
        <a:srgbClr val="2DD4BF"/>
      </a:hlink>
      <a:folHlink>
        <a:srgbClr val="99F6E4"/>
      </a:folHlink>
    </a:clrScheme>
    <a:fontScheme name="DataMon">
      <a:majorFont>
        <a:latin typeface="Montserrat"/>
        <a:ea typeface=""/>
        <a:cs typeface=""/>
      </a:majorFont>
      <a:minorFont>
        <a:latin typeface="Open Sans"/>
        <a:ea typeface=""/>
        <a:cs typeface=""/>
      </a:minorFont>
    </a:fontScheme>
    <a:fmtScheme name="DataMon">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DataMon">
  <a:themeElements>
    <a:clrScheme name="DataMon">
      <a:dk1>
        <a:srgbClr val="0E1117"/>
      </a:dk1>
      <a:lt1>
        <a:srgbClr val="FFFFFF"/>
      </a:lt1>
      <a:dk2>
        <a:srgbClr val="1A1F2B"/>
      </a:dk2>
      <a:lt2>
        <a:srgbClr val="E6EDF3"/>
      </a:lt2>
      <a:accent1>
        <a:srgbClr val="2DD4BF"/>
      </a:accent1>
      <a:accent2>
        <a:srgbClr val="0D9488"/>
      </a:accent2>
      <a:accent3>
        <a:srgbClr val="38BDF8"/>
      </a:accent3>
      <a:accent4>
        <a:srgbClr val="2E9E44"/>
      </a:accent4>
      <a:accent5>
        <a:srgbClr val="D9A400"/>
      </a:accent5>
      <a:accent6>
        <a:srgbClr val="D64545"/>
      </a:accent6>
      <a:hlink>
        <a:srgbClr val="2DD4BF"/>
      </a:hlink>
      <a:folHlink>
        <a:srgbClr val="99F6E4"/>
      </a:folHlink>
    </a:clrScheme>
    <a:fontScheme name="DataMon">
      <a:majorFont>
        <a:latin typeface="Montserrat"/>
        <a:ea typeface=""/>
        <a:cs typeface=""/>
      </a:majorFont>
      <a:minorFont>
        <a:latin typeface="Open Sans"/>
        <a:ea typeface=""/>
        <a:cs typeface=""/>
      </a:minorFont>
    </a:fontScheme>
    <a:fmtScheme name="DataMon">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DataMon build_slides.py</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itle>DataMon: a quality gate for robot training data</dc:title>
  <dc:creator>Ahmed Salah, Jesse Silva</dc:creator>
</cp:coreProperties>
</file>